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fed4404d0b4bb4" /><Relationship Type="http://schemas.openxmlformats.org/officeDocument/2006/relationships/extended-properties" Target="/docProps/app.xml" Id="R191df72846544185" /><Relationship Type="http://schemas.openxmlformats.org/officeDocument/2006/relationships/officeDocument" Target="/ppt/presentation.xml" Id="Rc640fefc914d46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328b37ca7d4fa6"/>
  </p:sldMasterIdLst>
  <p:notesMasterIdLst>
    <p:notesMasterId xmlns:r="http://schemas.openxmlformats.org/officeDocument/2006/relationships" r:id="R0476caad71884cbe"/>
  </p:notesMasterIdLst>
  <p:sldIdLst>
    <p:sldId xmlns:r="http://schemas.openxmlformats.org/officeDocument/2006/relationships" id="256" r:id="R4bae2336761f412b"/>
    <p:sldId xmlns:r="http://schemas.openxmlformats.org/officeDocument/2006/relationships" id="257" r:id="R883e83b8ff434d2b"/>
    <p:sldId xmlns:r="http://schemas.openxmlformats.org/officeDocument/2006/relationships" id="258" r:id="R89fee6e2854e41ff"/>
    <p:sldId xmlns:r="http://schemas.openxmlformats.org/officeDocument/2006/relationships" id="259" r:id="R98460c8f8ad443db"/>
    <p:sldId xmlns:r="http://schemas.openxmlformats.org/officeDocument/2006/relationships" id="260" r:id="R46c814f109c04906"/>
    <p:sldId xmlns:r="http://schemas.openxmlformats.org/officeDocument/2006/relationships" id="261" r:id="R15178bc597404627"/>
    <p:sldId xmlns:r="http://schemas.openxmlformats.org/officeDocument/2006/relationships" id="262" r:id="R092deed7f1814424"/>
    <p:sldId xmlns:r="http://schemas.openxmlformats.org/officeDocument/2006/relationships" id="263" r:id="Rf64e7e52e7cd4746"/>
    <p:sldId xmlns:r="http://schemas.openxmlformats.org/officeDocument/2006/relationships" id="264" r:id="R0aca8fe76bff46df"/>
    <p:sldId xmlns:r="http://schemas.openxmlformats.org/officeDocument/2006/relationships" id="265" r:id="R2e029aba770449f8"/>
    <p:sldId xmlns:r="http://schemas.openxmlformats.org/officeDocument/2006/relationships" id="266" r:id="R014d86ef9cdc4f1f"/>
    <p:sldId xmlns:r="http://schemas.openxmlformats.org/officeDocument/2006/relationships" id="267" r:id="R7b1562ffe50f4012"/>
    <p:sldId xmlns:r="http://schemas.openxmlformats.org/officeDocument/2006/relationships" id="268" r:id="R77adea475dae47e2"/>
    <p:sldId xmlns:r="http://schemas.openxmlformats.org/officeDocument/2006/relationships" id="269" r:id="R019391f387de41a4"/>
    <p:sldId xmlns:r="http://schemas.openxmlformats.org/officeDocument/2006/relationships" id="270" r:id="R95d1ab51970f4676"/>
    <p:sldId xmlns:r="http://schemas.openxmlformats.org/officeDocument/2006/relationships" id="271" r:id="R664f426524c94249"/>
    <p:sldId xmlns:r="http://schemas.openxmlformats.org/officeDocument/2006/relationships" id="272" r:id="Re5a6bf356d324cfe"/>
    <p:sldId xmlns:r="http://schemas.openxmlformats.org/officeDocument/2006/relationships" id="273" r:id="Rbfd2427c0cf0485a"/>
    <p:sldId xmlns:r="http://schemas.openxmlformats.org/officeDocument/2006/relationships" id="274" r:id="R2ad3475cf9334561"/>
    <p:sldId xmlns:r="http://schemas.openxmlformats.org/officeDocument/2006/relationships" id="275" r:id="Rb92a0bf42fa741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f6aa27824847a0" /><Relationship Type="http://schemas.openxmlformats.org/officeDocument/2006/relationships/slideMaster" Target="/ppt/slideMasters/slideMaster1.xml" Id="R2e328b37ca7d4fa6" /><Relationship Type="http://schemas.openxmlformats.org/officeDocument/2006/relationships/notesMaster" Target="/ppt/notesMasters/notesMaster1.xml" Id="R0476caad71884cbe" /><Relationship Type="http://schemas.openxmlformats.org/officeDocument/2006/relationships/presProps" Target="/ppt/presProps.xml" Id="R96707bb23b5c4b3f" /><Relationship Type="http://schemas.openxmlformats.org/officeDocument/2006/relationships/tableStyles" Target="/ppt/tableStyles.xml" Id="Rf39787007dd447ff" /><Relationship Type="http://schemas.openxmlformats.org/officeDocument/2006/relationships/slide" Target="/ppt/slides/slide1.xml" Id="R4bae2336761f412b" /><Relationship Type="http://schemas.openxmlformats.org/officeDocument/2006/relationships/slide" Target="/ppt/slides/slide2.xml" Id="R883e83b8ff434d2b" /><Relationship Type="http://schemas.openxmlformats.org/officeDocument/2006/relationships/slide" Target="/ppt/slides/slide3.xml" Id="R89fee6e2854e41ff" /><Relationship Type="http://schemas.openxmlformats.org/officeDocument/2006/relationships/slide" Target="/ppt/slides/slide4.xml" Id="R98460c8f8ad443db" /><Relationship Type="http://schemas.openxmlformats.org/officeDocument/2006/relationships/slide" Target="/ppt/slides/slide5.xml" Id="R46c814f109c04906" /><Relationship Type="http://schemas.openxmlformats.org/officeDocument/2006/relationships/slide" Target="/ppt/slides/slide6.xml" Id="R15178bc597404627" /><Relationship Type="http://schemas.openxmlformats.org/officeDocument/2006/relationships/slide" Target="/ppt/slides/slide7.xml" Id="R092deed7f1814424" /><Relationship Type="http://schemas.openxmlformats.org/officeDocument/2006/relationships/slide" Target="/ppt/slides/slide8.xml" Id="Rf64e7e52e7cd4746" /><Relationship Type="http://schemas.openxmlformats.org/officeDocument/2006/relationships/slide" Target="/ppt/slides/slide9.xml" Id="R0aca8fe76bff46df" /><Relationship Type="http://schemas.openxmlformats.org/officeDocument/2006/relationships/slide" Target="/ppt/slides/slide10.xml" Id="R2e029aba770449f8" /><Relationship Type="http://schemas.openxmlformats.org/officeDocument/2006/relationships/slide" Target="/ppt/slides/slide11.xml" Id="R014d86ef9cdc4f1f" /><Relationship Type="http://schemas.openxmlformats.org/officeDocument/2006/relationships/slide" Target="/ppt/slides/slide12.xml" Id="R7b1562ffe50f4012" /><Relationship Type="http://schemas.openxmlformats.org/officeDocument/2006/relationships/slide" Target="/ppt/slides/slide13.xml" Id="R77adea475dae47e2" /><Relationship Type="http://schemas.openxmlformats.org/officeDocument/2006/relationships/slide" Target="/ppt/slides/slide14.xml" Id="R019391f387de41a4" /><Relationship Type="http://schemas.openxmlformats.org/officeDocument/2006/relationships/slide" Target="/ppt/slides/slide15.xml" Id="R95d1ab51970f4676" /><Relationship Type="http://schemas.openxmlformats.org/officeDocument/2006/relationships/slide" Target="/ppt/slides/slide16.xml" Id="R664f426524c94249" /><Relationship Type="http://schemas.openxmlformats.org/officeDocument/2006/relationships/slide" Target="/ppt/slides/slide17.xml" Id="Re5a6bf356d324cfe" /><Relationship Type="http://schemas.openxmlformats.org/officeDocument/2006/relationships/slide" Target="/ppt/slides/slide18.xml" Id="Rbfd2427c0cf0485a" /><Relationship Type="http://schemas.openxmlformats.org/officeDocument/2006/relationships/slide" Target="/ppt/slides/slide19.xml" Id="R2ad3475cf9334561" /><Relationship Type="http://schemas.openxmlformats.org/officeDocument/2006/relationships/slide" Target="/ppt/slides/slide20.xml" Id="Rb92a0bf42fa741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32837e502f44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3b302460734de1" /><Relationship Type="http://schemas.openxmlformats.org/officeDocument/2006/relationships/notesMaster" Target="/ppt/notesMasters/notesMaster1.xml" Id="R1a9d610393d940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223900f0374ec9" /><Relationship Type="http://schemas.openxmlformats.org/officeDocument/2006/relationships/notesMaster" Target="/ppt/notesMasters/notesMaster1.xml" Id="Rd4618decdc1343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b71697f2c247d0" /><Relationship Type="http://schemas.openxmlformats.org/officeDocument/2006/relationships/notesMaster" Target="/ppt/notesMasters/notesMaster1.xml" Id="Rce8f9b38daf64a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488ab343484394" /><Relationship Type="http://schemas.openxmlformats.org/officeDocument/2006/relationships/notesMaster" Target="/ppt/notesMasters/notesMaster1.xml" Id="Re0c604030ea848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bc169c78d7401a" /><Relationship Type="http://schemas.openxmlformats.org/officeDocument/2006/relationships/notesMaster" Target="/ppt/notesMasters/notesMaster1.xml" Id="Rdb399cd8f54f47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4fc429ad75426f" /><Relationship Type="http://schemas.openxmlformats.org/officeDocument/2006/relationships/notesMaster" Target="/ppt/notesMasters/notesMaster1.xml" Id="Re75ea398927b4c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e4a6ead8004e6f" /><Relationship Type="http://schemas.openxmlformats.org/officeDocument/2006/relationships/notesMaster" Target="/ppt/notesMasters/notesMaster1.xml" Id="R571e9903061a44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71cc7b89c84103" /><Relationship Type="http://schemas.openxmlformats.org/officeDocument/2006/relationships/notesMaster" Target="/ppt/notesMasters/notesMaster1.xml" Id="R360bda5fd74440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fdc244e6f84035" /><Relationship Type="http://schemas.openxmlformats.org/officeDocument/2006/relationships/notesMaster" Target="/ppt/notesMasters/notesMaster1.xml" Id="Ra13b1efdab3c48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ee06d989f2c496d" /><Relationship Type="http://schemas.openxmlformats.org/officeDocument/2006/relationships/notesMaster" Target="/ppt/notesMasters/notesMaster1.xml" Id="R36a1037a84e3439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1341c9dabba467a" /><Relationship Type="http://schemas.openxmlformats.org/officeDocument/2006/relationships/notesMaster" Target="/ppt/notesMasters/notesMaster1.xml" Id="R56f73f791293420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148832651654956" /><Relationship Type="http://schemas.openxmlformats.org/officeDocument/2006/relationships/notesMaster" Target="/ppt/notesMasters/notesMaster1.xml" Id="Re85a4a6bfbba4f0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d05ca898efe4f1e" /><Relationship Type="http://schemas.openxmlformats.org/officeDocument/2006/relationships/notesMaster" Target="/ppt/notesMasters/notesMaster1.xml" Id="Re418edd1ca0f4de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200d8ec8da74871" /><Relationship Type="http://schemas.openxmlformats.org/officeDocument/2006/relationships/notesMaster" Target="/ppt/notesMasters/notesMaster1.xml" Id="R876fd83eafd54c0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eda577adb5a4aee" /><Relationship Type="http://schemas.openxmlformats.org/officeDocument/2006/relationships/notesMaster" Target="/ppt/notesMasters/notesMaster1.xml" Id="R5bade0816044456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5be220a29624130" /><Relationship Type="http://schemas.openxmlformats.org/officeDocument/2006/relationships/notesMaster" Target="/ppt/notesMasters/notesMaster1.xml" Id="Rb583922c42b14b9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10412af9dca47c6" /><Relationship Type="http://schemas.openxmlformats.org/officeDocument/2006/relationships/notesMaster" Target="/ppt/notesMasters/notesMaster1.xml" Id="R704d7f9ed8894c1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c29a743e63c4c39" /><Relationship Type="http://schemas.openxmlformats.org/officeDocument/2006/relationships/notesMaster" Target="/ppt/notesMasters/notesMaster1.xml" Id="Rcefc21ca48564b1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ddc4d7f35324250" /><Relationship Type="http://schemas.openxmlformats.org/officeDocument/2006/relationships/notesMaster" Target="/ppt/notesMasters/notesMaster1.xml" Id="R62c0c3c9073544a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d252cb9b0274f5f" /><Relationship Type="http://schemas.openxmlformats.org/officeDocument/2006/relationships/notesMaster" Target="/ppt/notesMasters/notesMaster1.xml" Id="Rd7eb5fc2cf6741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README.md — product purpose and feature scope.</a:t>
            </a:r>
          </a:p>
          <a:p xmlns:a="http://schemas.openxmlformats.org/drawingml/2006/main">
            <a:r>
              <a:t>docs/DOCUMENTATION.md — canonical product aim and architecture.</a:t>
            </a:r>
          </a:p>
          <a:p xmlns:a="http://schemas.openxmlformats.org/drawingml/2006/main">
            <a:r>
              <a:t>Generated hero image: OpenAI image_gen, original asset created for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docs/DOCUMENTATION.md — Aim, problem statement, and golden rule.</a:t>
            </a:r>
          </a:p>
          <a:p xmlns:a="http://schemas.openxmlformats.org/drawingml/2006/main">
            <a:r>
              <a:t>README.md — confirm gate and evidence-grounded product principles.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README.md — feature inventory and user-facing scope.</a:t>
            </a:r>
          </a:p>
          <a:p xmlns:a="http://schemas.openxmlformats.org/drawingml/2006/main">
            <a:r>
              <a:t>docs/DOCUMENTATION.md — feature implementation and data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README.md — feature inventory and user-facing scope.</a:t>
            </a:r>
          </a:p>
          <a:p xmlns:a="http://schemas.openxmlformats.org/drawingml/2006/main">
            <a:r>
              <a:t>docs/DOCUMENTATION.md — feature implementation and data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README.md — feature inventory and user-facing scope.</a:t>
            </a:r>
          </a:p>
          <a:p xmlns:a="http://schemas.openxmlformats.org/drawingml/2006/main">
            <a:r>
              <a:t>docs/DOCUMENTATION.md — feature implementation and data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README.md — feature inventory and user-facing scope.</a:t>
            </a:r>
          </a:p>
          <a:p xmlns:a="http://schemas.openxmlformats.org/drawingml/2006/main">
            <a:r>
              <a:t>docs/DOCUMENTATION.md — feature implementation and data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README.md — feature inventory and user-facing scope.</a:t>
            </a:r>
          </a:p>
          <a:p xmlns:a="http://schemas.openxmlformats.org/drawingml/2006/main">
            <a:r>
              <a:t>docs/DOCUMENTATION.md — feature implementation and data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README.md — feature inventory and user-facing scope.</a:t>
            </a:r>
          </a:p>
          <a:p xmlns:a="http://schemas.openxmlformats.org/drawingml/2006/main">
            <a:r>
              <a:t>docs/DOCUMENTATION.md — feature implementation and data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README.md — feature inventory and user-facing scope.</a:t>
            </a:r>
          </a:p>
          <a:p xmlns:a="http://schemas.openxmlformats.org/drawingml/2006/main">
            <a:r>
              <a:t>docs/DOCUMENTATION.md — feature implementation and data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README.md — feature inventory and user-facing scope.</a:t>
            </a:r>
          </a:p>
          <a:p xmlns:a="http://schemas.openxmlformats.org/drawingml/2006/main">
            <a:r>
              <a:t>docs/DOCUMENTATION.md — feature implementation and data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README.md — feature inventory and user-facing scope.</a:t>
            </a:r>
          </a:p>
          <a:p xmlns:a="http://schemas.openxmlformats.org/drawingml/2006/main">
            <a:r>
              <a:t>docs/DOCUMENTATION.md — feature implementation and data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README.md — feature inventory and user-facing scope.</a:t>
            </a:r>
          </a:p>
          <a:p xmlns:a="http://schemas.openxmlformats.org/drawingml/2006/main">
            <a:r>
              <a:t>docs/DOCUMENTATION.md — feature implementation and data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README.md — feature inventory and user-facing scope.</a:t>
            </a:r>
          </a:p>
          <a:p xmlns:a="http://schemas.openxmlformats.org/drawingml/2006/main">
            <a:r>
              <a:t>docs/DOCUMENTATION.md — feature implementation and data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README.md — feature inventory and user-facing scope.</a:t>
            </a:r>
          </a:p>
          <a:p xmlns:a="http://schemas.openxmlformats.org/drawingml/2006/main">
            <a:r>
              <a:t>docs/DOCUMENTATION.md — feature implementation and data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README.md — feature inventory and user-facing scope.</a:t>
            </a:r>
          </a:p>
          <a:p xmlns:a="http://schemas.openxmlformats.org/drawingml/2006/main">
            <a:r>
              <a:t>docs/DOCUMENTATION.md — feature implementation and data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README.md — feature inventory and user-facing scope.</a:t>
            </a:r>
          </a:p>
          <a:p xmlns:a="http://schemas.openxmlformats.org/drawingml/2006/main">
            <a:r>
              <a:t>docs/DOCUMENTATION.md — feature implementation and data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README.md — feature inventory and user-facing scope.</a:t>
            </a:r>
          </a:p>
          <a:p xmlns:a="http://schemas.openxmlformats.org/drawingml/2006/main">
            <a:r>
              <a:t>docs/DOCUMENTATION.md — feature implementation and data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README.md — feature inventory and user-facing scope.</a:t>
            </a:r>
          </a:p>
          <a:p xmlns:a="http://schemas.openxmlformats.org/drawingml/2006/main">
            <a:r>
              <a:t>docs/DOCUMENTATION.md — feature implementation and data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docs/DOCUMENTATION.md — architecture, trust boundaries, and feature map.</a:t>
            </a:r>
          </a:p>
          <a:p xmlns:a="http://schemas.openxmlformats.org/drawingml/2006/main">
            <a:r>
              <a:t>README.md — product flow and server-only integration principles.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README.md — design principles and explicit non-goals.</a:t>
            </a:r>
          </a:p>
          <a:p xmlns:a="http://schemas.openxmlformats.org/drawingml/2006/main">
            <a:r>
              <a:t>docs/DOCUMENTATION.md — golden rule, confirm gate, and product takeaway.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22b9750a4d49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2d28ff034d4f7c" /><Relationship Type="http://schemas.openxmlformats.org/officeDocument/2006/relationships/slideLayout" Target="/ppt/slideLayouts/slideLayout1.xml" Id="R2eb8794fd9544d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b8794fd9544d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fd0f58f44043a6" /><Relationship Type="http://schemas.openxmlformats.org/officeDocument/2006/relationships/image" Target="/ppt/media/image.png" Id="Rf238bec3219a45e2" /><Relationship Type="http://schemas.openxmlformats.org/officeDocument/2006/relationships/image" Target="/ppt/media/image2.png" Id="Rd0574a5564d04a7b" /><Relationship Type="http://schemas.openxmlformats.org/officeDocument/2006/relationships/image" Target="/ppt/media/image.svg" Id="Ra78fc79d67344f82" /><Relationship Type="http://schemas.openxmlformats.org/officeDocument/2006/relationships/notesSlide" Target="/ppt/notesSlides/notesSlide1.xml" Id="R0187037d4d174e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200bdab614e14" /><Relationship Type="http://schemas.openxmlformats.org/officeDocument/2006/relationships/notesSlide" Target="/ppt/notesSlides/notesSlide2.xml" Id="R9367a866ab984f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926c00f7b41fa" /><Relationship Type="http://schemas.openxmlformats.org/officeDocument/2006/relationships/notesSlide" Target="/ppt/notesSlides/notesSlide3.xml" Id="R213b1ac1742c43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6ebe47d92483b" /><Relationship Type="http://schemas.openxmlformats.org/officeDocument/2006/relationships/notesSlide" Target="/ppt/notesSlides/notesSlide4.xml" Id="R0e6bb8d6d0464a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60667896a437c" /><Relationship Type="http://schemas.openxmlformats.org/officeDocument/2006/relationships/notesSlide" Target="/ppt/notesSlides/notesSlide5.xml" Id="R6724d612c98544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23431f3202434d" /><Relationship Type="http://schemas.openxmlformats.org/officeDocument/2006/relationships/notesSlide" Target="/ppt/notesSlides/notesSlide6.xml" Id="R7bf26926cfaa44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e333c86fa4734" /><Relationship Type="http://schemas.openxmlformats.org/officeDocument/2006/relationships/notesSlide" Target="/ppt/notesSlides/notesSlide7.xml" Id="R826aade3ccb945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353abbd3049c1" /><Relationship Type="http://schemas.openxmlformats.org/officeDocument/2006/relationships/notesSlide" Target="/ppt/notesSlides/notesSlide8.xml" Id="R02d27c3944c44f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ef1a219ca44c8" /><Relationship Type="http://schemas.openxmlformats.org/officeDocument/2006/relationships/notesSlide" Target="/ppt/notesSlides/notesSlide9.xml" Id="Re76047c6398f45e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6da32de6ee4a13" /><Relationship Type="http://schemas.openxmlformats.org/officeDocument/2006/relationships/notesSlide" Target="/ppt/notesSlides/notesSlide10.xml" Id="R571599ecb4c54c5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2a2f21703482f" /><Relationship Type="http://schemas.openxmlformats.org/officeDocument/2006/relationships/notesSlide" Target="/ppt/notesSlides/notesSlide11.xml" Id="Ra747095662ed412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f09017ba84ff4" /><Relationship Type="http://schemas.openxmlformats.org/officeDocument/2006/relationships/notesSlide" Target="/ppt/notesSlides/notesSlide12.xml" Id="R55b18853dc5c43b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b43fa6c4a4bb0" /><Relationship Type="http://schemas.openxmlformats.org/officeDocument/2006/relationships/notesSlide" Target="/ppt/notesSlides/notesSlide13.xml" Id="R85176639cbfe449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a83a55ff5a4043" /><Relationship Type="http://schemas.openxmlformats.org/officeDocument/2006/relationships/notesSlide" Target="/ppt/notesSlides/notesSlide14.xml" Id="R41074f8645124ee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b1efdc6ec4cee" /><Relationship Type="http://schemas.openxmlformats.org/officeDocument/2006/relationships/notesSlide" Target="/ppt/notesSlides/notesSlide15.xml" Id="Rff1c134f9c91463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f0a5d9f3784d4a" /><Relationship Type="http://schemas.openxmlformats.org/officeDocument/2006/relationships/notesSlide" Target="/ppt/notesSlides/notesSlide16.xml" Id="R155a8457a28746f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9b54a879034ec5" /><Relationship Type="http://schemas.openxmlformats.org/officeDocument/2006/relationships/notesSlide" Target="/ppt/notesSlides/notesSlide17.xml" Id="R8e1c383fb3464d1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76b7bb5dd2450b" /><Relationship Type="http://schemas.openxmlformats.org/officeDocument/2006/relationships/notesSlide" Target="/ppt/notesSlides/notesSlide18.xml" Id="R05379f9b8f0149a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c68c0bcc984b79" /><Relationship Type="http://schemas.openxmlformats.org/officeDocument/2006/relationships/notesSlide" Target="/ppt/notesSlides/notesSlide19.xml" Id="R0ce39e0d076a4d4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33ba6b4a8847d5" /><Relationship Type="http://schemas.openxmlformats.org/officeDocument/2006/relationships/image" Target="/ppt/media/image3.png" Id="R4d7fe608c4394d44" /><Relationship Type="http://schemas.openxmlformats.org/officeDocument/2006/relationships/image" Target="/ppt/media/image2.svg" Id="Rda4ff25b539c4384" /><Relationship Type="http://schemas.openxmlformats.org/officeDocument/2006/relationships/notesSlide" Target="/ppt/notesSlides/notesSlide20.xml" Id="R1cdb07913dc647c4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827"/>
            </a:gs>
            <a:gs pos="58000">
              <a:srgbClr val="0B2942"/>
            </a:gs>
            <a:gs pos="100000">
              <a:srgbClr val="1769AA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38bec3219a45e2"/>
          <a:srcRect xmlns:a="http://schemas.openxmlformats.org/drawingml/2006/main" l="17561" t="0" r="175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0" y="0"/>
            <a:ext cx="7905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A2DF50-8C9D-43F6-99CD-618996DD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8000">
                <a:srgbClr val="071827"/>
              </a:gs>
              <a:gs pos="58000">
                <a:srgbClr val="071827">
                  <a:alpha val="96000"/>
                </a:srgbClr>
              </a:gs>
              <a:gs pos="100000">
                <a:srgbClr val="071827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574a5564d04a7b">
            <a:extLst>
              <a:ext uri="{96DAC541-7B7A-43D3-8B79-37D633B846F1}">
                <asvg:svgBlip xmlns:asvg="http://schemas.microsoft.com/office/drawing/2016/SVG/main" r:embed="Ra78fc79d67344f8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6096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EE2413-F909-4A85-BB0D-44F8AF57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429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D2E4"/>
                </a:solidFill>
              </a:defRPr>
            </a:pPr>
            <a:r>
              <a:rPr sz="1050" b="1">
                <a:solidFill>
                  <a:srgbClr val="B8D2E4"/>
                </a:solidFill>
              </a:rPr>
              <a:t>CAREER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7574B-68BF-46F5-80E1-389306F7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3340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Turn career</a:t>
            </a:r>
          </a:p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evidence into</a:t>
            </a:r>
          </a:p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next actions.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EE11AB-5FCB-4AF4-972C-010393B3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2E5F1"/>
                </a:solidFill>
              </a:defRPr>
            </a:pPr>
            <a:r>
              <a:rPr sz="1500">
                <a:solidFill>
                  <a:srgbClr val="D2E5F1"/>
                </a:solidFill>
              </a:rPr>
              <a:t>A private, evidence-grounded workspace for the candidate journey — from resume confirmation to ATS proof, interview practice, learning, and job matching.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15F7B2-EDED-4AAA-8DC7-D8003497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16573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76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5F1920-D3D2-4177-B0DE-1D504853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48325"/>
            <a:ext cx="1466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PROJECT PRESENTATION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420E28-EE32-49C4-8723-ADFFCD71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57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CC1D8"/>
                </a:solidFill>
              </a:defRPr>
            </a:pPr>
            <a:r>
              <a:rPr sz="975">
                <a:solidFill>
                  <a:srgbClr val="9CC1D8"/>
                </a:solidFill>
              </a:rPr>
              <a:t>Feature walkthrough</a:t>
            </a:r>
          </a:p>
        </p:txBody>
      </p:sp>
    </p:spTree>
    <p:extLst>
      <p:ext uri="{BB962C8B-B14F-4D97-AF65-F5344CB8AC3E}">
        <p14:creationId xmlns:p14="http://schemas.microsoft.com/office/powerpoint/2010/main" val="16799986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1488B7-E355-4DC9-AAB8-8E2CF5B7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2263A"/>
                </a:solidFill>
              </a:defRPr>
            </a:pPr>
            <a:r>
              <a:rPr sz="2625" b="1">
                <a:solidFill>
                  <a:srgbClr val="12263A"/>
                </a:solidFill>
              </a:rPr>
              <a:t>Why Career Copilot exists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748A5C-2A1A-4D81-B6C7-4D401A52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E7489"/>
                </a:solidFill>
              </a:defRPr>
            </a:pPr>
            <a:r>
              <a:rPr sz="1275">
                <a:solidFill>
                  <a:srgbClr val="5E7489"/>
                </a:solidFill>
              </a:rPr>
              <a:t>The product is designed around a simple promise: make career decisions more inspectable.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0A5A3-7DAA-48C3-BA39-B577DDC8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765F"/>
                </a:solidFill>
              </a:defRPr>
            </a:pPr>
            <a:r>
              <a:rPr sz="900" b="1">
                <a:solidFill>
                  <a:srgbClr val="FF765F"/>
                </a:solidFill>
              </a:rPr>
              <a:t>THE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0F693F-A0E2-4566-9FAC-DBA9DE5D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657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263A"/>
                </a:solidFill>
              </a:defRPr>
            </a:pPr>
            <a:r>
              <a:rPr sz="2100" b="1">
                <a:solidFill>
                  <a:srgbClr val="12263A"/>
                </a:solidFill>
              </a:rPr>
              <a:t>Career tools often move from uploaded documents to confident conclusions without showing the evidence or the next action.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CB9F34-3712-438F-85DA-C2F5FB81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6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F4ABFB-FF36-44EF-B4A9-D197C8BE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65F"/>
                </a:solidFill>
              </a:defRPr>
            </a:pPr>
            <a:r>
              <a:rPr sz="1200" b="1">
                <a:solidFill>
                  <a:srgbClr val="FF765F"/>
                </a:solidFill>
              </a:rPr>
              <a:t>No proof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8C4F27-0B63-48CD-91F5-3DA0462F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8620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7489"/>
                </a:solidFill>
              </a:defRPr>
            </a:pPr>
            <a:r>
              <a:rPr sz="1125">
                <a:solidFill>
                  <a:srgbClr val="5E7489"/>
                </a:solidFill>
              </a:rPr>
              <a:t>Scores without exact resume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8567F9-14D7-498A-B695-0645205D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9575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A40FE2-C6BA-44B1-9DBD-AE1FDC6C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0B71B0-734C-4422-AA3E-1653DEE3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9AA"/>
                </a:solidFill>
              </a:defRPr>
            </a:pPr>
            <a:r>
              <a:rPr sz="1200" b="1">
                <a:solidFill>
                  <a:srgbClr val="1769AA"/>
                </a:solidFill>
              </a:rPr>
              <a:t>No trust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03B160-A412-4C05-9E1D-223CBC4A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767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7489"/>
                </a:solidFill>
              </a:defRPr>
            </a:pPr>
            <a:r>
              <a:rPr sz="1125">
                <a:solidFill>
                  <a:srgbClr val="5E7489"/>
                </a:solidFill>
              </a:rPr>
              <a:t>AI or extraction silently becomes “truth”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C71C5A-DE00-4AEF-9AC8-63D8DCA0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0125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6BFB20-6EFA-4BFE-A56F-AD79D659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701FFD-8CF4-4A72-90AB-7CCD8127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673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6C453"/>
                </a:solidFill>
              </a:defRPr>
            </a:pPr>
            <a:r>
              <a:rPr sz="1200" b="1">
                <a:solidFill>
                  <a:srgbClr val="F6C453"/>
                </a:solidFill>
              </a:rPr>
              <a:t>No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017A6F-611C-49A3-A0AD-C234C2BF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6730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7489"/>
                </a:solidFill>
              </a:defRPr>
            </a:pPr>
            <a:r>
              <a:rPr sz="1125">
                <a:solidFill>
                  <a:srgbClr val="5E7489"/>
                </a:solidFill>
              </a:rPr>
              <a:t>Gaps do not become practical next actions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8EE088-9172-47C2-93E0-456A47F3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00675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C049A4-8CA1-47A3-9511-759B2D34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52650"/>
            <a:ext cx="2857500" cy="28194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7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7E3F80-556F-4CEB-802F-9CC762E3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76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8C4E8"/>
                </a:solidFill>
              </a:defRPr>
            </a:pPr>
            <a:r>
              <a:rPr sz="900" b="1">
                <a:solidFill>
                  <a:srgbClr val="48C4E8"/>
                </a:solidFill>
              </a:rPr>
              <a:t>OUR DESIGN RESPONSE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A5D3C2-09BF-4CAE-902E-6363B986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9560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Evidence</a:t>
            </a:r>
          </a:p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first.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FE3ECB-D291-4293-B6CD-D104881E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957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D2E4"/>
                </a:solidFill>
              </a:defRPr>
            </a:pPr>
            <a:r>
              <a:rPr sz="1200">
                <a:solidFill>
                  <a:srgbClr val="B8D2E4"/>
                </a:solidFill>
              </a:rPr>
              <a:t>Candidate confirmation becomes the boundary for scoring, practice, learning, and job matching.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4CF11A-A7B2-426C-94F1-670F14F6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B91A3"/>
                </a:solidFill>
              </a:defRPr>
            </a:pPr>
            <a:r>
              <a:rPr sz="900" b="1">
                <a:solidFill>
                  <a:srgbClr val="7B91A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25647398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827"/>
            </a:gs>
            <a:gs pos="100000">
              <a:srgbClr val="0B2942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F0E8D1-E040-4491-9CB5-02CA2A59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Authentication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8290D5-6EE5-475F-A347-A33097F3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D2E4"/>
                </a:solidFill>
              </a:defRPr>
            </a:pPr>
            <a:r>
              <a:rPr sz="1275">
                <a:solidFill>
                  <a:srgbClr val="B8D2E4"/>
                </a:solidFill>
              </a:rPr>
              <a:t>A secure entry point into a private workspace.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6CA9CC-F7D0-461E-A079-6FBA85D7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9AA"/>
                </a:solidFill>
              </a:defRPr>
            </a:pPr>
            <a:r>
              <a:rPr sz="900" b="1">
                <a:solidFill>
                  <a:srgbClr val="1769AA"/>
                </a:solidFill>
              </a:rPr>
              <a:t>WHAT THIS FEATURE DOES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C99EE-C34A-4ED7-B7B9-7BFFAD57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Sign in once, then let the app carry an authenticated candidate context through every product path.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7C852C-434F-43C9-8DBF-BAC2AD40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38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58681-CE4C-41E1-9D77-F1C6EFD3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909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9AA"/>
                </a:solidFill>
              </a:defRPr>
            </a:pPr>
            <a:r>
              <a:rPr sz="1200" b="1">
                <a:solidFill>
                  <a:srgbClr val="1769AA"/>
                </a:solidFill>
              </a:rPr>
              <a:t>Email + password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F02717-04AF-4FBD-8E4B-F0AB12B6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909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D2E4"/>
                </a:solidFill>
              </a:defRPr>
            </a:pPr>
            <a:r>
              <a:rPr sz="1125">
                <a:solidFill>
                  <a:srgbClr val="B8D2E4"/>
                </a:solidFill>
              </a:rPr>
              <a:t>Supabase email auth plus app JWT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FA4F1D-47B8-4BAD-89A4-677B7931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62425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AA9AF4-2977-437E-84BD-7FEE1100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174A33-E07E-461E-ABAE-E4B57067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815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9AA"/>
                </a:solidFill>
              </a:defRPr>
            </a:pPr>
            <a:r>
              <a:rPr sz="1200" b="1">
                <a:solidFill>
                  <a:srgbClr val="1769AA"/>
                </a:solidFill>
              </a:rPr>
              <a:t>Google sign-in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80C8DE-3FD8-4934-B2DB-23B20AA1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381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D2E4"/>
                </a:solidFill>
              </a:defRPr>
            </a:pPr>
            <a:r>
              <a:rPr sz="1125">
                <a:solidFill>
                  <a:srgbClr val="B8D2E4"/>
                </a:solidFill>
              </a:rPr>
              <a:t>Firebase ID-token exchange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E862D1-BE58-483F-9E6C-333DA0BF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52975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0689F9-DEB4-430D-A524-D36EFC44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9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4832C7-DF03-4656-99C7-8E6BDA4F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720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9AA"/>
                </a:solidFill>
              </a:defRPr>
            </a:pPr>
            <a:r>
              <a:rPr sz="1200" b="1">
                <a:solidFill>
                  <a:srgbClr val="1769AA"/>
                </a:solidFill>
              </a:rPr>
              <a:t>Session continuity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C904E8-C1D5-448B-B0A1-8B97BEC8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9720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D2E4"/>
                </a:solidFill>
              </a:defRPr>
            </a:pPr>
            <a:r>
              <a:rPr sz="1125">
                <a:solidFill>
                  <a:srgbClr val="B8D2E4"/>
                </a:solidFill>
              </a:rPr>
              <a:t>JWT + cookie for authenticated API and files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EF2CD0-202F-4372-BEE8-E2F3D080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43525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0EB1C0-EEB3-4670-AD8D-98E26D8D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38350"/>
            <a:ext cx="3048000" cy="31432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23754"/>
          </a:solidFill>
          <a:ln xmlns:a="http://schemas.openxmlformats.org/drawingml/2006/main" w="19050">
            <a:solidFill>
              <a:srgbClr val="1769A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CEC6C6-8AD3-4680-AB93-75C17BBA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622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9AA"/>
                </a:solidFill>
              </a:defRPr>
            </a:pPr>
            <a:r>
              <a:rPr sz="900" b="1">
                <a:solidFill>
                  <a:srgbClr val="1769AA"/>
                </a:solidFill>
              </a:rPr>
              <a:t>PRESENTER TAKEAWAY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AC28A9-6778-4822-9D73-1BFEE5EF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57500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A clear user</a:t>
            </a:r>
          </a:p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outcome —</a:t>
            </a:r>
          </a:p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with a clear</a:t>
            </a:r>
          </a:p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boundary.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D21438-3643-4E44-B349-3D08C8A1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FAFC4"/>
                </a:solidFill>
              </a:defRPr>
            </a:pPr>
            <a:r>
              <a:rPr sz="900" b="1">
                <a:solidFill>
                  <a:srgbClr val="8FAFC4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850097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D4992F-A980-45FA-8DAE-F23614CD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How Authentication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7CA87-D57D-4750-ACD2-63F56BBA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D2E4"/>
                </a:solidFill>
              </a:defRPr>
            </a:pPr>
            <a:r>
              <a:rPr sz="1275">
                <a:solidFill>
                  <a:srgbClr val="B8D2E4"/>
                </a:solidFill>
              </a:rPr>
              <a:t>The user action, the server path, and the technology behind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4D7DF1-C8E5-49B1-83CA-3A3219F8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3337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2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5E136C-FF5F-4780-9647-72C715F4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2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DC947C-3A26-4EAE-916C-C13C11FC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3337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2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102B1F-D8AB-4E3E-A850-1A1E0491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809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23754"/>
          </a:solidFill>
          <a:ln xmlns:a="http://schemas.openxmlformats.org/drawingml/2006/main" w="19050">
            <a:solidFill>
              <a:srgbClr val="1769A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17110F-0649-4B47-848D-1BCBBF4D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56BE6F-5591-4230-9E97-333434C6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670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1827"/>
                </a:solidFill>
              </a:defRPr>
            </a:pPr>
            <a:r>
              <a:rPr sz="750" b="1">
                <a:solidFill>
                  <a:srgbClr val="071827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AED626-66C7-42F6-AAA1-C264952B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Sign 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38484E-8AC6-464D-9F22-E9C840EC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480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8D2E4"/>
                </a:solidFill>
              </a:defRPr>
            </a:pPr>
            <a:r>
              <a:rPr sz="975">
                <a:solidFill>
                  <a:srgbClr val="B8D2E4"/>
                </a:solidFill>
              </a:rPr>
              <a:t>Provider validates identity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129C27-3C28-4E25-A65B-84B58955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90800"/>
            <a:ext cx="1809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23754"/>
          </a:solidFill>
          <a:ln xmlns:a="http://schemas.openxmlformats.org/drawingml/2006/main" w="19050">
            <a:solidFill>
              <a:srgbClr val="1769A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EF23D5-BAFA-4177-9AB1-DFBB5B19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800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959DCF-D373-4D05-88FB-BA7F3894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670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1827"/>
                </a:solidFill>
              </a:defRPr>
            </a:pPr>
            <a:r>
              <a:rPr sz="750" b="1">
                <a:solidFill>
                  <a:srgbClr val="071827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343140-F2AC-4CC9-AEAB-03710EBA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33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Exchange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D805AA-1D77-408B-AB92-8D2E4463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480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8D2E4"/>
                </a:solidFill>
              </a:defRPr>
            </a:pPr>
            <a:r>
              <a:rPr sz="975">
                <a:solidFill>
                  <a:srgbClr val="B8D2E4"/>
                </a:solidFill>
              </a:rPr>
              <a:t>Backend verifies token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B8C301-4E4F-4942-A89C-A8708282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590800"/>
            <a:ext cx="1809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23754"/>
          </a:solidFill>
          <a:ln xmlns:a="http://schemas.openxmlformats.org/drawingml/2006/main" w="19050">
            <a:solidFill>
              <a:srgbClr val="1769A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9CEC35-C12B-4F0F-84FC-465594DD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00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4B0FF3-88E1-46CC-99E0-5D18E482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670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1827"/>
                </a:solidFill>
              </a:defRPr>
            </a:pPr>
            <a:r>
              <a:rPr sz="750" b="1">
                <a:solidFill>
                  <a:srgbClr val="071827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C03557-CE00-4505-BEB8-C521B62D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333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Issue JWT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3ADC34-EE74-4015-9A9D-3791AB64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6480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8D2E4"/>
                </a:solidFill>
              </a:defRPr>
            </a:pPr>
            <a:r>
              <a:rPr sz="975">
                <a:solidFill>
                  <a:srgbClr val="B8D2E4"/>
                </a:solidFill>
              </a:rPr>
              <a:t>App session is created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2D4C28-79D7-4E05-AEB7-93219583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90800"/>
            <a:ext cx="1809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23754"/>
          </a:solidFill>
          <a:ln xmlns:a="http://schemas.openxmlformats.org/drawingml/2006/main" w="19050">
            <a:solidFill>
              <a:srgbClr val="1769A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9EBD9E-CEF3-4636-AE69-74565763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00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FAF2C1-E2BE-41E6-99D1-3AA7AEF3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670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1827"/>
                </a:solidFill>
              </a:defRPr>
            </a:pPr>
            <a:r>
              <a:rPr sz="750" b="1">
                <a:solidFill>
                  <a:srgbClr val="071827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82D571-4775-41C3-912D-272DA4DC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33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Protect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C5F5FB-F607-43B3-8973-7D2BB54B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480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8D2E4"/>
                </a:solidFill>
              </a:defRPr>
            </a:pPr>
            <a:r>
              <a:rPr sz="975">
                <a:solidFill>
                  <a:srgbClr val="B8D2E4"/>
                </a:solidFill>
              </a:rPr>
              <a:t>Every API uses current user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222E7C-FE6E-4948-BC51-907E5A69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9AA"/>
                </a:solidFill>
              </a:defRPr>
            </a:pPr>
            <a:r>
              <a:rPr sz="900" b="1">
                <a:solidFill>
                  <a:srgbClr val="1769AA"/>
                </a:solidFill>
              </a:rPr>
              <a:t>TECHNOLOGY USED HERE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02CAB7-09B3-44A5-8D9F-D9BC15A5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9AA"/>
                </a:solidFill>
              </a:defRPr>
            </a:pPr>
            <a:r>
              <a:rPr sz="1125" b="1">
                <a:solidFill>
                  <a:srgbClr val="1769AA"/>
                </a:solidFill>
              </a:rPr>
              <a:t>Frontend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C0840C-96D0-430B-9900-D5665537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D2E4"/>
                </a:solidFill>
              </a:defRPr>
            </a:pPr>
            <a:r>
              <a:rPr sz="1050">
                <a:solidFill>
                  <a:srgbClr val="B8D2E4"/>
                </a:solidFill>
              </a:rPr>
              <a:t>Supabase Web SDK + Firebase Web SDK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B34FFF-04E5-4E47-98C4-EBE5E9E8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3149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9AA"/>
                </a:solidFill>
              </a:defRPr>
            </a:pPr>
            <a:r>
              <a:rPr sz="1125" b="1">
                <a:solidFill>
                  <a:srgbClr val="1769AA"/>
                </a:solidFill>
              </a:rPr>
              <a:t>Backend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F3A2C9-35AA-4C2E-8DF4-BFACB4EA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5816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D2E4"/>
                </a:solidFill>
              </a:defRPr>
            </a:pPr>
            <a:r>
              <a:rPr sz="1050">
                <a:solidFill>
                  <a:srgbClr val="B8D2E4"/>
                </a:solidFill>
              </a:rPr>
              <a:t>FastAPI + PyJWT + scrypt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C8150C-7F1B-4788-A3F1-202AA90A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149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9AA"/>
                </a:solidFill>
              </a:defRPr>
            </a:pPr>
            <a:r>
              <a:rPr sz="1125" b="1">
                <a:solidFill>
                  <a:srgbClr val="1769AA"/>
                </a:solidFill>
              </a:rPr>
              <a:t>Security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7F69C8-E95D-45FA-9097-627B4C59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5816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D2E4"/>
                </a:solidFill>
              </a:defRPr>
            </a:pPr>
            <a:r>
              <a:rPr sz="1050">
                <a:solidFill>
                  <a:srgbClr val="B8D2E4"/>
                </a:solidFill>
              </a:rPr>
              <a:t>Ownership helpers + request auth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44FA6A-A8D3-4343-A6C0-0EA46BC3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3149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9AA"/>
                </a:solidFill>
              </a:defRPr>
            </a:pPr>
            <a:r>
              <a:rPr sz="1125" b="1">
                <a:solidFill>
                  <a:srgbClr val="1769AA"/>
                </a:solidFill>
              </a:rPr>
              <a:t>Storage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774A49-8CBA-4097-9A43-D4AAEEBB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5816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D2E4"/>
                </a:solidFill>
              </a:defRPr>
            </a:pPr>
            <a:r>
              <a:rPr sz="1050">
                <a:solidFill>
                  <a:srgbClr val="B8D2E4"/>
                </a:solidFill>
              </a:rPr>
              <a:t>JWT localStorage + session cookie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2FFD9A-FB1E-47DD-AC38-23ED72B9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FAFC4"/>
                </a:solidFill>
              </a:defRPr>
            </a:pPr>
            <a:r>
              <a:rPr sz="900" b="1">
                <a:solidFill>
                  <a:srgbClr val="8FAFC4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014678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01ACEB-9372-40DF-96C2-C7D0E9F1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2263A"/>
                </a:solidFill>
              </a:defRPr>
            </a:pPr>
            <a:r>
              <a:rPr sz="2625" b="1">
                <a:solidFill>
                  <a:srgbClr val="12263A"/>
                </a:solidFill>
              </a:rPr>
              <a:t>Profile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2E9EB9-3B0D-4DB6-BC29-2519BFAA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E7489"/>
                </a:solidFill>
              </a:defRPr>
            </a:pPr>
            <a:r>
              <a:rPr sz="1275">
                <a:solidFill>
                  <a:srgbClr val="5E7489"/>
                </a:solidFill>
              </a:rPr>
              <a:t>Turn a resume into a structured candidate workspace.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88269-05D0-4C1E-A605-5F8EEDE8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333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21AF3B-3385-4DD2-A6FB-78805DD6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14550"/>
            <a:ext cx="5905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263A"/>
                </a:solidFill>
              </a:defRPr>
            </a:pPr>
            <a:r>
              <a:rPr sz="2175" b="1">
                <a:solidFill>
                  <a:srgbClr val="12263A"/>
                </a:solidFill>
              </a:rPr>
              <a:t>The profile keeps the person at the center: structured fields, progress, and editable career context.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5F3E9-9897-4E31-94A4-7A31412A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957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8C4E8"/>
                </a:solidFill>
              </a:defRPr>
            </a:pPr>
            <a:r>
              <a:rPr sz="900" b="1">
                <a:solidFill>
                  <a:srgbClr val="48C4E8"/>
                </a:solidFill>
              </a:rPr>
              <a:t>THE FEATURE IN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7B5F0E-B534-4525-91EA-80178F4E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33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C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3CC2FB-2C5B-4F43-AD83-39DBCC51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957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8C4E8"/>
                </a:solidFill>
              </a:defRPr>
            </a:pPr>
            <a:r>
              <a:rPr sz="1125" b="1">
                <a:solidFill>
                  <a:srgbClr val="48C4E8"/>
                </a:solidFill>
              </a:rPr>
              <a:t>Structured profile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BBAAC5-BF0F-4789-B2E3-C1567D5A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957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7489"/>
                </a:solidFill>
              </a:defRPr>
            </a:pPr>
            <a:r>
              <a:rPr sz="1050">
                <a:solidFill>
                  <a:srgbClr val="5E7489"/>
                </a:solidFill>
              </a:rPr>
              <a:t>Skills, experience, projects, education, links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F3E824-0A52-430E-BAF0-EE4AE938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67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C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8DFBD1-18EB-49EB-A117-6BA2D11C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291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8C4E8"/>
                </a:solidFill>
              </a:defRPr>
            </a:pPr>
            <a:r>
              <a:rPr sz="1125" b="1">
                <a:solidFill>
                  <a:srgbClr val="48C4E8"/>
                </a:solidFill>
              </a:rPr>
              <a:t>Completion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4D09B2-7958-465A-8024-5FAB9CD1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291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7489"/>
                </a:solidFill>
              </a:defRPr>
            </a:pPr>
            <a:r>
              <a:rPr sz="1050">
                <a:solidFill>
                  <a:srgbClr val="5E7489"/>
                </a:solidFill>
              </a:rPr>
              <a:t>Weighted 0–100 checklist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4085AA-6CF5-4F63-B02B-CD0C4753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00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C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FA587E-662F-4D7C-B472-22C305F8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62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8C4E8"/>
                </a:solidFill>
              </a:defRPr>
            </a:pPr>
            <a:r>
              <a:rPr sz="1125" b="1">
                <a:solidFill>
                  <a:srgbClr val="48C4E8"/>
                </a:solidFill>
              </a:rPr>
              <a:t>Resume assist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D1FBED-D57C-41AC-8E9F-8126A262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625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7489"/>
                </a:solidFill>
              </a:defRPr>
            </a:pPr>
            <a:r>
              <a:rPr sz="1050">
                <a:solidFill>
                  <a:srgbClr val="5E7489"/>
                </a:solidFill>
              </a:rPr>
              <a:t>Preview then apply extracted fields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846D03-2FCC-4A59-A4B2-13D90F5E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34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C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87630D-39FB-4886-ACF9-7F7D38AC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6959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8C4E8"/>
                </a:solidFill>
              </a:defRPr>
            </a:pPr>
            <a:r>
              <a:rPr sz="1125" b="1">
                <a:solidFill>
                  <a:srgbClr val="48C4E8"/>
                </a:solidFill>
              </a:rPr>
              <a:t>Privacy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35B174-1415-4278-B8E8-F44FB493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6959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7489"/>
                </a:solidFill>
              </a:defRPr>
            </a:pPr>
            <a:r>
              <a:rPr sz="1050">
                <a:solidFill>
                  <a:srgbClr val="5E7489"/>
                </a:solidFill>
              </a:rPr>
              <a:t>Candidate-owned profile resources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3ED01F-38EE-4153-9018-2F3F35E5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2857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48C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A4AD10-0CBE-4823-8744-C7E5A371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0B2942"/>
                </a:solidFill>
              </a:defRPr>
            </a:pPr>
            <a:r>
              <a:rPr sz="4800" b="1">
                <a:solidFill>
                  <a:srgbClr val="0B2942"/>
                </a:solidFill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9332FD-E702-464C-9DB9-FB56C654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242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2942"/>
                </a:solidFill>
              </a:defRPr>
            </a:pPr>
            <a:r>
              <a:rPr sz="900" b="1">
                <a:solidFill>
                  <a:srgbClr val="0B2942"/>
                </a:solidFill>
              </a:rPr>
              <a:t>PRESENTER CUE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E92C95-08EB-4BED-9D0B-4D857C99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2263A"/>
                </a:solidFill>
              </a:defRPr>
            </a:pPr>
            <a:r>
              <a:rPr sz="1200">
                <a:solidFill>
                  <a:srgbClr val="12263A"/>
                </a:solidFill>
              </a:rPr>
              <a:t>Explain the user outcome first. Then show the boundary that keeps it trustworthy.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01F355-53EA-4071-9088-F59BF4EE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B91A3"/>
                </a:solidFill>
              </a:defRPr>
            </a:pPr>
            <a:r>
              <a:rPr sz="900" b="1">
                <a:solidFill>
                  <a:srgbClr val="7B91A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371574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260C81-1D0E-48A0-B133-396042A8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2263A"/>
                </a:solidFill>
              </a:defRPr>
            </a:pPr>
            <a:r>
              <a:rPr sz="2625" b="1">
                <a:solidFill>
                  <a:srgbClr val="12263A"/>
                </a:solidFill>
              </a:rPr>
              <a:t>How Profile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41E68B-98D6-4629-9458-6C4B210B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E7489"/>
                </a:solidFill>
              </a:defRPr>
            </a:pPr>
            <a:r>
              <a:rPr sz="1275">
                <a:solidFill>
                  <a:srgbClr val="5E7489"/>
                </a:solidFill>
              </a:rPr>
              <a:t>The user action, the server path, and the technology behind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7F33B6-66A0-4173-B0A0-459F050F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381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493E23-BE92-44EF-8D78-5AB4A062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C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7EF51C-757D-46D9-84CB-36F5C09D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28875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C4C41E-CCC9-4BD9-AEAD-99E0BEAA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622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263A"/>
                </a:solidFill>
              </a:defRPr>
            </a:pPr>
            <a:r>
              <a:rPr sz="1350" b="1">
                <a:solidFill>
                  <a:srgbClr val="12263A"/>
                </a:solidFill>
              </a:rPr>
              <a:t>Open profile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B115B2-425E-4264-B673-8090E299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622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7489"/>
                </a:solidFill>
              </a:defRPr>
            </a:pPr>
            <a:r>
              <a:rPr sz="1050">
                <a:solidFill>
                  <a:srgbClr val="5E7489"/>
                </a:solidFill>
              </a:rPr>
              <a:t>Load bootstrap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537FCA-34CC-4604-9182-23AE290E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861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C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2E4D40-00F7-42B4-86FF-871428D6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71825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28410D-FEDA-42D6-91A6-B951B310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051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263A"/>
                </a:solidFill>
              </a:defRPr>
            </a:pPr>
            <a:r>
              <a:rPr sz="1350" b="1">
                <a:solidFill>
                  <a:srgbClr val="12263A"/>
                </a:solidFill>
              </a:rPr>
              <a:t>Add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AEC92A-3268-4523-800C-B2485417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051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7489"/>
                </a:solidFill>
              </a:defRPr>
            </a:pPr>
            <a:r>
              <a:rPr sz="1050">
                <a:solidFill>
                  <a:srgbClr val="5E7489"/>
                </a:solidFill>
              </a:rPr>
              <a:t>Edit or import fields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A17188-1BFF-41F3-9028-58B70303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29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C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E3CF7F-8425-48CF-8DCE-C792262B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14775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F6D31A-430C-4DE2-ADFF-2FDEF6D7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481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263A"/>
                </a:solidFill>
              </a:defRPr>
            </a:pPr>
            <a:r>
              <a:rPr sz="1350" b="1">
                <a:solidFill>
                  <a:srgbClr val="12263A"/>
                </a:solidFill>
              </a:rPr>
              <a:t>Preview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655904-C4F4-454A-AE4F-CDF953DC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481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7489"/>
                </a:solidFill>
              </a:defRPr>
            </a:pPr>
            <a:r>
              <a:rPr sz="1050">
                <a:solidFill>
                  <a:srgbClr val="5E7489"/>
                </a:solidFill>
              </a:rPr>
              <a:t>Review AI/deterministic draft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3544DD-09B2-47FE-B380-5F47F1AF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72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C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A21C92-5F0A-4FAE-9EBE-967D8B1C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57725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8AA72B-B07D-4513-8FDC-FD9B1631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910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263A"/>
                </a:solidFill>
              </a:defRPr>
            </a:pPr>
            <a:r>
              <a:rPr sz="1350" b="1">
                <a:solidFill>
                  <a:srgbClr val="12263A"/>
                </a:solidFill>
              </a:rPr>
              <a:t>Apply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DBA2A0-69B5-4670-9E81-CAA8A63C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910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7489"/>
                </a:solidFill>
              </a:defRPr>
            </a:pPr>
            <a:r>
              <a:rPr sz="1050">
                <a:solidFill>
                  <a:srgbClr val="5E7489"/>
                </a:solidFill>
              </a:rPr>
              <a:t>Write only selected rows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D214F8-E5D4-4A4D-AC7A-2532A5F1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66950"/>
            <a:ext cx="34290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FAFF"/>
          </a:solidFill>
          <a:ln xmlns:a="http://schemas.openxmlformats.org/drawingml/2006/main" w="19050">
            <a:solidFill>
              <a:srgbClr val="48C4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6D3875-C02F-4EF3-A948-34AF2595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717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8C4E8"/>
                </a:solidFill>
              </a:defRPr>
            </a:pPr>
            <a:r>
              <a:rPr sz="900" b="1">
                <a:solidFill>
                  <a:srgbClr val="48C4E8"/>
                </a:solidFill>
              </a:rPr>
              <a:t>TECHNOLOGY STACK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08C6E5-AFD0-4A2A-BEC0-0F53BCA6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48000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8C4E8"/>
                </a:solidFill>
              </a:defRPr>
            </a:pPr>
            <a:r>
              <a:rPr sz="1050" b="1">
                <a:solidFill>
                  <a:srgbClr val="48C4E8"/>
                </a:solidFill>
              </a:rPr>
              <a:t>Frontend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9C03EC-DAAA-405B-842B-724BEE52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480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7489"/>
                </a:solidFill>
              </a:defRPr>
            </a:pPr>
            <a:r>
              <a:rPr sz="975">
                <a:solidFill>
                  <a:srgbClr val="5E7489"/>
                </a:solidFill>
              </a:rPr>
              <a:t>React workspace + onboarding routes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626985-DBE3-45B4-B0A2-9AF7B401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24250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8C4E8"/>
                </a:solidFill>
              </a:defRPr>
            </a:pPr>
            <a:r>
              <a:rPr sz="1050" b="1">
                <a:solidFill>
                  <a:srgbClr val="48C4E8"/>
                </a:solidFill>
              </a:rPr>
              <a:t>Backend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6A922A-8F99-4223-AEF5-2CD6A482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5242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7489"/>
                </a:solidFill>
              </a:defRPr>
            </a:pPr>
            <a:r>
              <a:rPr sz="975">
                <a:solidFill>
                  <a:srgbClr val="5E7489"/>
                </a:solidFill>
              </a:rPr>
              <a:t>Profile feature modules + Pydantic schemas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389C78-43CE-4C30-9EDA-8A0D0E0B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00500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8C4E8"/>
                </a:solidFill>
              </a:defRPr>
            </a:pPr>
            <a:r>
              <a:rPr sz="1050" b="1">
                <a:solidFill>
                  <a:srgbClr val="48C4E8"/>
                </a:solidFill>
              </a:rPr>
              <a:t>Data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1BDD27-5CE9-46C0-89F3-CC4ADEAE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005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7489"/>
                </a:solidFill>
              </a:defRPr>
            </a:pPr>
            <a:r>
              <a:rPr sz="975">
                <a:solidFill>
                  <a:srgbClr val="5E7489"/>
                </a:solidFill>
              </a:rPr>
              <a:t>Firestore profile and child resources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3364FF-7941-4FFF-B489-589468D5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76750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8C4E8"/>
                </a:solidFill>
              </a:defRPr>
            </a:pPr>
            <a:r>
              <a:rPr sz="1050" b="1">
                <a:solidFill>
                  <a:srgbClr val="48C4E8"/>
                </a:solidFill>
              </a:rPr>
              <a:t>Guardrail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30B52B-543B-48CB-8C96-F3BBB9C0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767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7489"/>
                </a:solidFill>
              </a:defRPr>
            </a:pPr>
            <a:r>
              <a:rPr sz="975">
                <a:solidFill>
                  <a:srgbClr val="5E7489"/>
                </a:solidFill>
              </a:rPr>
              <a:t>Evidence filter before apply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5D8A5D-D8E7-4A72-AA0D-50385E5B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B91A3"/>
                </a:solidFill>
              </a:defRPr>
            </a:pPr>
            <a:r>
              <a:rPr sz="900" b="1">
                <a:solidFill>
                  <a:srgbClr val="7B91A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90237380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827"/>
            </a:gs>
            <a:gs pos="100000">
              <a:srgbClr val="0B2942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2774D1-396F-4EE5-9990-C2571643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Resume + Job Description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EA319-7238-4D52-9CB2-BD489BF8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D2E4"/>
                </a:solidFill>
              </a:defRPr>
            </a:pPr>
            <a:r>
              <a:rPr sz="1275">
                <a:solidFill>
                  <a:srgbClr val="B8D2E4"/>
                </a:solidFill>
              </a:rPr>
              <a:t>Make source documents reviewable before they become inputs.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7DCA86-0986-4212-8D01-5DC0AC1F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765F"/>
                </a:solidFill>
              </a:defRPr>
            </a:pPr>
            <a:r>
              <a:rPr sz="900" b="1">
                <a:solidFill>
                  <a:srgbClr val="FF765F"/>
                </a:solidFill>
              </a:rPr>
              <a:t>WHAT THIS FEATURE DOES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BE1748-96F6-4017-96E8-D2AC959D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Upload or paste a resume and job description, inspect extraction, edit if needed, and explicitly confirm.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B690A4-4E64-439D-B21E-8E4DE884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383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765F"/>
                </a:solidFill>
              </a:defRPr>
            </a:pPr>
            <a:r>
              <a:rPr sz="1125" b="1">
                <a:solidFill>
                  <a:srgbClr val="FF765F"/>
                </a:solidFill>
              </a:rPr>
              <a:t>FEATURE</a:t>
            </a:r>
          </a:p>
          <a:p xmlns:a="http://schemas.openxmlformats.org/drawingml/2006/main">
            <a:pPr>
              <a:defRPr sz="1125" b="1">
                <a:solidFill>
                  <a:srgbClr val="FF765F"/>
                </a:solidFill>
              </a:defRPr>
            </a:pPr>
            <a:r>
              <a:rPr sz="1125" b="1">
                <a:solidFill>
                  <a:srgbClr val="FF765F"/>
                </a:solidFill>
              </a:rPr>
              <a:t>OUTCOME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94718C-3EA5-4C97-8461-263B4599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47950"/>
            <a:ext cx="266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700" b="1">
                <a:solidFill>
                  <a:srgbClr val="FF765F"/>
                </a:solidFill>
              </a:defRPr>
            </a:pPr>
            <a:r>
              <a:rPr sz="8700" b="1">
                <a:solidFill>
                  <a:srgbClr val="FF765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FF2083-7466-4CA1-89DD-8F5B696E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38600"/>
            <a:ext cx="342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DAAFA6-E61D-4AED-8C48-5563209A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243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D2E4"/>
                </a:solidFill>
              </a:defRPr>
            </a:pPr>
            <a:r>
              <a:rPr sz="1275">
                <a:solidFill>
                  <a:srgbClr val="B8D2E4"/>
                </a:solidFill>
              </a:rPr>
              <a:t>The candidate can see what changed, why it matters, and what to do next.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B930D7-C16D-4B08-B56D-DFB89B22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6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694C5B-C0CA-4D5F-B3E6-74FD4503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765F"/>
                </a:solidFill>
              </a:defRPr>
            </a:pPr>
            <a:r>
              <a:rPr sz="1125" b="1">
                <a:solidFill>
                  <a:srgbClr val="FF765F"/>
                </a:solidFill>
              </a:rPr>
              <a:t>PDF/DOCX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6B4544-FE4A-4B24-9B9F-F52FF3AA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8D2E4"/>
                </a:solidFill>
              </a:defRPr>
            </a:pPr>
            <a:r>
              <a:rPr sz="975">
                <a:solidFill>
                  <a:srgbClr val="B8D2E4"/>
                </a:solidFill>
              </a:rPr>
              <a:t>Text extraction with structured sections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F4B373-BE36-4569-A886-E0EC8943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133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6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7E6176-CD74-40EF-BA51-78F36579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957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765F"/>
                </a:solidFill>
              </a:defRPr>
            </a:pPr>
            <a:r>
              <a:rPr sz="1125" b="1">
                <a:solidFill>
                  <a:srgbClr val="FF765F"/>
                </a:solidFill>
              </a:rPr>
              <a:t>Review 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3B3132-DB91-4387-868E-DD28EAEE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24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8D2E4"/>
                </a:solidFill>
              </a:defRPr>
            </a:pPr>
            <a:r>
              <a:rPr sz="975">
                <a:solidFill>
                  <a:srgbClr val="B8D2E4"/>
                </a:solidFill>
              </a:rPr>
              <a:t>New uploads start as review_required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23B33B-1EA4-44A9-9F44-F8325BF6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6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80A452-6E65-4302-9B00-E058FAFF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765F"/>
                </a:solidFill>
              </a:defRPr>
            </a:pPr>
            <a:r>
              <a:rPr sz="1125" b="1">
                <a:solidFill>
                  <a:srgbClr val="FF765F"/>
                </a:solidFill>
              </a:rPr>
              <a:t>Versioning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1E5089-1FD9-4130-815C-DA318D35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86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8D2E4"/>
                </a:solidFill>
              </a:defRPr>
            </a:pPr>
            <a:r>
              <a:rPr sz="975">
                <a:solidFill>
                  <a:srgbClr val="B8D2E4"/>
                </a:solidFill>
              </a:rPr>
              <a:t>Resume versions and confirmed timestamps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C95A9B-B4F7-4D50-83A6-A9658134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895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6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6CF932-9B92-482F-8E87-777549ED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577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765F"/>
                </a:solidFill>
              </a:defRPr>
            </a:pPr>
            <a:r>
              <a:rPr sz="1125" b="1">
                <a:solidFill>
                  <a:srgbClr val="FF765F"/>
                </a:solidFill>
              </a:rPr>
              <a:t>Source control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541484-0182-452C-B3E0-650D96B8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86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8D2E4"/>
                </a:solidFill>
              </a:defRPr>
            </a:pPr>
            <a:r>
              <a:rPr sz="975">
                <a:solidFill>
                  <a:srgbClr val="B8D2E4"/>
                </a:solidFill>
              </a:rPr>
              <a:t>Only confirmed text powers downstream paths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226518-7714-4470-81A1-93E0F6BF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FAFC4"/>
                </a:solidFill>
              </a:defRPr>
            </a:pPr>
            <a:r>
              <a:rPr sz="900" b="1">
                <a:solidFill>
                  <a:srgbClr val="8FAFC4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261682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F1FBC7-3B87-479F-9754-BA462008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How Resume + Job Description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ED4CE7-31A7-4F29-9C62-5FD3F22F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D2E4"/>
                </a:solidFill>
              </a:defRPr>
            </a:pPr>
            <a:r>
              <a:rPr sz="1275">
                <a:solidFill>
                  <a:srgbClr val="B8D2E4"/>
                </a:solidFill>
              </a:rPr>
              <a:t>The user action, the server path, and the technology behind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B9F483-8ED4-4A59-B61D-7C411847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765F"/>
                </a:solidFill>
              </a:defRPr>
            </a:pPr>
            <a:r>
              <a:rPr sz="900" b="1">
                <a:solidFill>
                  <a:srgbClr val="FF765F"/>
                </a:solidFill>
              </a:rPr>
              <a:t>THE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565524-5B80-4395-A660-F487BB48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4191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23754"/>
          </a:solidFill>
          <a:ln xmlns:a="http://schemas.openxmlformats.org/drawingml/2006/main" w="19050">
            <a:solidFill>
              <a:srgbClr val="FF76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25ABB5-492D-4347-942D-0644DC3E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765F"/>
                </a:solidFill>
              </a:defRPr>
            </a:pPr>
            <a:r>
              <a:rPr sz="2100" b="1">
                <a:solidFill>
                  <a:srgbClr val="FF765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CBBF43-73A1-42E7-9557-62F19CAC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003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Upload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85D86B-9B84-4186-9E22-CE015B87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861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D2E4"/>
                </a:solidFill>
              </a:defRPr>
            </a:pPr>
            <a:r>
              <a:rPr sz="1050">
                <a:solidFill>
                  <a:srgbClr val="B8D2E4"/>
                </a:solidFill>
              </a:rPr>
              <a:t>Validate type and size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2FF239-8ADC-4E4A-9176-DE9F6FEB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90800"/>
            <a:ext cx="4191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23754"/>
          </a:solidFill>
          <a:ln xmlns:a="http://schemas.openxmlformats.org/drawingml/2006/main" w="19050">
            <a:solidFill>
              <a:srgbClr val="FF76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3BFCF5-E303-4FDF-B775-26BE0711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003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765F"/>
                </a:solidFill>
              </a:defRPr>
            </a:pPr>
            <a:r>
              <a:rPr sz="2100" b="1">
                <a:solidFill>
                  <a:srgbClr val="FF765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082BF8-2E83-448A-87E0-B6B87AA7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003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Extract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535DCB-8361-4435-A409-4829AE36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861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D2E4"/>
                </a:solidFill>
              </a:defRPr>
            </a:pPr>
            <a:r>
              <a:rPr sz="1050">
                <a:solidFill>
                  <a:srgbClr val="B8D2E4"/>
                </a:solidFill>
              </a:rPr>
              <a:t>Parse text and sections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2E14EB-453A-4383-AA4E-0645A6AA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191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23754"/>
          </a:solidFill>
          <a:ln xmlns:a="http://schemas.openxmlformats.org/drawingml/2006/main" w="19050">
            <a:solidFill>
              <a:srgbClr val="FF76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8DF00B-FB38-4A61-B700-060DA906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2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765F"/>
                </a:solidFill>
              </a:defRPr>
            </a:pPr>
            <a:r>
              <a:rPr sz="2100" b="1">
                <a:solidFill>
                  <a:srgbClr val="FF765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3131FB-67C4-4333-A24E-7843BD00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529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C83080-1E9A-4082-8939-C2FBD735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438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D2E4"/>
                </a:solidFill>
              </a:defRPr>
            </a:pPr>
            <a:r>
              <a:rPr sz="1050">
                <a:solidFill>
                  <a:srgbClr val="B8D2E4"/>
                </a:solidFill>
              </a:rPr>
              <a:t>Candidate can edit extraction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593087-1435-4989-863F-8FD201A6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43350"/>
            <a:ext cx="4191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23754"/>
          </a:solidFill>
          <a:ln xmlns:a="http://schemas.openxmlformats.org/drawingml/2006/main" w="19050">
            <a:solidFill>
              <a:srgbClr val="FF76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32C95D-E776-4C35-BC12-3AEB4D60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152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765F"/>
                </a:solidFill>
              </a:defRPr>
            </a:pPr>
            <a:r>
              <a:rPr sz="2100" b="1">
                <a:solidFill>
                  <a:srgbClr val="FF765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60F285-2917-4D9C-9FE9-A1A3518D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529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Confirm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660FBB-A2F8-445F-A79A-98A9A794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38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D2E4"/>
                </a:solidFill>
              </a:defRPr>
            </a:pPr>
            <a:r>
              <a:rPr sz="1050">
                <a:solidFill>
                  <a:srgbClr val="B8D2E4"/>
                </a:solidFill>
              </a:rPr>
              <a:t>Persist trusted source 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448536-7C74-4AEE-9101-90973F9E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765F"/>
                </a:solidFill>
              </a:defRPr>
            </a:pPr>
            <a:r>
              <a:rPr sz="900" b="1">
                <a:solidFill>
                  <a:srgbClr val="FF765F"/>
                </a:solidFill>
              </a:rPr>
              <a:t>WHAT SUPPORTS THE 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78352B-A2CE-47D3-81E0-86724FB9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62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D2E4"/>
                </a:solidFill>
              </a:defRPr>
            </a:pPr>
            <a:r>
              <a:rPr sz="1050">
                <a:solidFill>
                  <a:srgbClr val="B8D2E4"/>
                </a:solidFill>
              </a:rPr>
              <a:t>Extraction: pypdf, python-docx, optional PDF extras   ·   API: FastAPI resume/JD routes   ·   Persistence: Firestore versions + timestamps   ·   Control: PATCH review + POST confirm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BB4BF1-8B70-4FA1-B8AC-3DE8D6F3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FAFC4"/>
                </a:solidFill>
              </a:defRPr>
            </a:pPr>
            <a:r>
              <a:rPr sz="900" b="1">
                <a:solidFill>
                  <a:srgbClr val="8FAFC4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169501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F7BCFE-8D6C-45F0-93F0-E461C89B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2263A"/>
                </a:solidFill>
              </a:defRPr>
            </a:pPr>
            <a:r>
              <a:rPr sz="2625" b="1">
                <a:solidFill>
                  <a:srgbClr val="12263A"/>
                </a:solidFill>
              </a:rPr>
              <a:t>ATS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6BE6AE-9DE3-4083-B9F9-FBE4A8E4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E7489"/>
                </a:solidFill>
              </a:defRPr>
            </a:pPr>
            <a:r>
              <a:rPr sz="1275">
                <a:solidFill>
                  <a:srgbClr val="5E7489"/>
                </a:solidFill>
              </a:rPr>
              <a:t>Replace black-box scoring with exact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1E5FAC-1082-4EAC-B9D2-14B62B69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363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2F7486-7958-40CA-8C2B-D057BA3F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6C453"/>
                </a:solidFill>
              </a:defRPr>
            </a:pPr>
            <a:r>
              <a:rPr sz="900" b="1">
                <a:solidFill>
                  <a:srgbClr val="F6C453"/>
                </a:solidFill>
              </a:rPr>
              <a:t>FEATURE SNAPSHOT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F866BF-C134-4353-85DD-E099AAE4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263A"/>
                </a:solidFill>
              </a:defRPr>
            </a:pPr>
            <a:r>
              <a:rPr sz="2325" b="1">
                <a:solidFill>
                  <a:srgbClr val="12263A"/>
                </a:solidFill>
              </a:rPr>
              <a:t>Compare a confirmed resume with a confirmed JD using deterministic keyword coverage and show why each term matched.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CB6BF9-4776-4963-9C37-04C9A3C4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86BE81-C964-4DA2-B36C-597EEA7F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C453"/>
                </a:solidFill>
              </a:defRPr>
            </a:pPr>
            <a:r>
              <a:rPr sz="1125" b="1">
                <a:solidFill>
                  <a:srgbClr val="F6C453"/>
                </a:solidFill>
              </a:rPr>
              <a:t>Weighted score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CA2747-A29C-4261-BD27-56A513C5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7489"/>
                </a:solidFill>
              </a:defRPr>
            </a:pPr>
            <a:r>
              <a:rPr sz="1050">
                <a:solidFill>
                  <a:srgbClr val="5E7489"/>
                </a:solidFill>
              </a:rPr>
              <a:t>Strong, partial, missing → 0–100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AEC240-52F6-4D58-85C2-7A65A266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48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6CCE21-622B-4B42-A093-39A8E92B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72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C453"/>
                </a:solidFill>
              </a:defRPr>
            </a:pPr>
            <a:r>
              <a:rPr sz="1125" b="1">
                <a:solidFill>
                  <a:srgbClr val="F6C453"/>
                </a:solidFill>
              </a:rPr>
              <a:t>Exact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70C4E8-F87E-478F-B4BD-7B73C563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958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7489"/>
                </a:solidFill>
              </a:defRPr>
            </a:pPr>
            <a:r>
              <a:rPr sz="1050">
                <a:solidFill>
                  <a:srgbClr val="5E7489"/>
                </a:solidFill>
              </a:rPr>
              <a:t>Matched resume quote per term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F49BAD-7DA3-4016-A6C8-16384B04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48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47AC7E-B06F-4022-BD85-59D53149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572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C453"/>
                </a:solidFill>
              </a:defRPr>
            </a:pPr>
            <a:r>
              <a:rPr sz="1125" b="1">
                <a:solidFill>
                  <a:srgbClr val="F6C453"/>
                </a:solidFill>
              </a:rPr>
              <a:t>Aliases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CE4C05-1410-4A5C-818E-0FDD7D2F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8958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7489"/>
                </a:solidFill>
              </a:defRPr>
            </a:pPr>
            <a:r>
              <a:rPr sz="1050">
                <a:solidFill>
                  <a:srgbClr val="5E7489"/>
                </a:solidFill>
              </a:rPr>
              <a:t>JS/TS, k8s, and related term groups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D90BC2-DEC8-49F7-AEC5-C3DA000B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48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6C9E88-9BD4-44A9-95B1-CE149266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72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C453"/>
                </a:solidFill>
              </a:defRPr>
            </a:pPr>
            <a:r>
              <a:rPr sz="1125" b="1">
                <a:solidFill>
                  <a:srgbClr val="F6C453"/>
                </a:solidFill>
              </a:rPr>
              <a:t>History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7EF897-A784-4166-8F2F-ACF52610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8958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7489"/>
                </a:solidFill>
              </a:defRPr>
            </a:pPr>
            <a:r>
              <a:rPr sz="1050">
                <a:solidFill>
                  <a:srgbClr val="5E7489"/>
                </a:solidFill>
              </a:rPr>
              <a:t>Resume + JD fingerprint persisted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8B09FC-C1D1-4FD1-93BB-2847FDF5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71750"/>
            <a:ext cx="11430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6C4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97B69B-6367-40B9-BC2E-3EABA94A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781300"/>
            <a:ext cx="704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0B2942"/>
                </a:solidFill>
              </a:defRPr>
            </a:pPr>
            <a:r>
              <a:rPr sz="4350" b="1">
                <a:solidFill>
                  <a:srgbClr val="0B2942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10BB3D-4C4C-455B-93D5-6902AEAE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B91A3"/>
                </a:solidFill>
              </a:defRPr>
            </a:pPr>
            <a:r>
              <a:rPr sz="900" b="1">
                <a:solidFill>
                  <a:srgbClr val="7B91A3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578603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996314-CF3D-4B2B-A970-6C44766D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2263A"/>
                </a:solidFill>
              </a:defRPr>
            </a:pPr>
            <a:r>
              <a:rPr sz="2625" b="1">
                <a:solidFill>
                  <a:srgbClr val="12263A"/>
                </a:solidFill>
              </a:rPr>
              <a:t>How ATS Analysis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7EAC67-C60B-446A-B9A8-992ED1DA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E7489"/>
                </a:solidFill>
              </a:defRPr>
            </a:pPr>
            <a:r>
              <a:rPr sz="1275">
                <a:solidFill>
                  <a:srgbClr val="5E7489"/>
                </a:solidFill>
              </a:rPr>
              <a:t>The user action, the server path, and the technology behind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29CA4E-1663-4B26-8086-A00BD027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81300"/>
            <a:ext cx="209550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9B0F2-2046-4CA9-A663-338D97B8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27660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942"/>
                </a:solidFill>
              </a:defRPr>
            </a:pPr>
            <a:r>
              <a:rPr sz="1575" b="1">
                <a:solidFill>
                  <a:srgbClr val="0B2942"/>
                </a:solidFill>
              </a:rPr>
              <a:t>USER</a:t>
            </a:r>
          </a:p>
          <a:p xmlns:a="http://schemas.openxmlformats.org/drawingml/2006/main">
            <a:pPr algn="ctr">
              <a:defRPr sz="1575" b="1">
                <a:solidFill>
                  <a:srgbClr val="0B2942"/>
                </a:solidFill>
              </a:defRPr>
            </a:pPr>
            <a:r>
              <a:rPr sz="1575" b="1">
                <a:solidFill>
                  <a:srgbClr val="0B2942"/>
                </a:solidFill>
              </a:rPr>
              <a:t>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85FBED-2EBD-4DA4-A24D-A8946D00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4800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DFE135-A64A-48FD-A1BC-9EB44AED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FAFF"/>
          </a:solidFill>
          <a:ln xmlns:a="http://schemas.openxmlformats.org/drawingml/2006/main" w="19050">
            <a:solidFill>
              <a:srgbClr val="F6C45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904A07-BFF5-4063-80CF-445B9478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432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C453"/>
                </a:solidFill>
              </a:defRPr>
            </a:pPr>
            <a:r>
              <a:rPr sz="1500" b="1">
                <a:solidFill>
                  <a:srgbClr val="F6C453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C95A68-8C5C-4B5E-B1CF-808D265E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432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263A"/>
                </a:solidFill>
              </a:defRPr>
            </a:pPr>
            <a:r>
              <a:rPr sz="1200" b="1">
                <a:solidFill>
                  <a:srgbClr val="12263A"/>
                </a:solidFill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2AB4AD-4877-4A45-9E8F-6D7CF38E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86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7489"/>
                </a:solidFill>
              </a:defRPr>
            </a:pPr>
            <a:r>
              <a:rPr sz="975">
                <a:solidFill>
                  <a:srgbClr val="5E7489"/>
                </a:solidFill>
              </a:rPr>
              <a:t>Require both sources confirmed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E07EB1-6A83-4D29-9241-F8DC014C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D6D83F-6B64-445A-99CB-5218F0F4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FAFF"/>
          </a:solidFill>
          <a:ln xmlns:a="http://schemas.openxmlformats.org/drawingml/2006/main" w="19050">
            <a:solidFill>
              <a:srgbClr val="F6C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D796E-7D43-43B4-BF97-6B74C918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432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C453"/>
                </a:solidFill>
              </a:defRPr>
            </a:pPr>
            <a:r>
              <a:rPr sz="1500" b="1">
                <a:solidFill>
                  <a:srgbClr val="F6C453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01777C-A153-4D1B-83F0-5B7CCC72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432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263A"/>
                </a:solidFill>
              </a:defRPr>
            </a:pPr>
            <a:r>
              <a:rPr sz="1200" b="1">
                <a:solidFill>
                  <a:srgbClr val="12263A"/>
                </a:solidFill>
              </a:rPr>
              <a:t>Extract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77B459-7161-4ED9-B931-DBC97182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86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7489"/>
                </a:solidFill>
              </a:defRPr>
            </a:pPr>
            <a:r>
              <a:rPr sz="975">
                <a:solidFill>
                  <a:srgbClr val="5E7489"/>
                </a:solidFill>
              </a:rPr>
              <a:t>Find required/preferred terms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3B4970-8880-49AA-919A-E2B46D3D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5300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E6DE14-6351-47C0-BB7B-CBF96EE7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FAFF"/>
          </a:solidFill>
          <a:ln xmlns:a="http://schemas.openxmlformats.org/drawingml/2006/main" w="19050">
            <a:solidFill>
              <a:srgbClr val="F6C45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1D411E-6D07-4257-AD4A-2EB63E75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482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C453"/>
                </a:solidFill>
              </a:defRPr>
            </a:pPr>
            <a:r>
              <a:rPr sz="1500" b="1">
                <a:solidFill>
                  <a:srgbClr val="F6C453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58A3C5-E5D8-46BE-AA50-1A0081D0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482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263A"/>
                </a:solidFill>
              </a:defRPr>
            </a:pPr>
            <a:r>
              <a:rPr sz="1200" b="1">
                <a:solidFill>
                  <a:srgbClr val="12263A"/>
                </a:solidFill>
              </a:rPr>
              <a:t>Match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D0F79B-C8E5-483D-9B0D-1A43D45D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91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7489"/>
                </a:solidFill>
              </a:defRPr>
            </a:pPr>
            <a:r>
              <a:rPr sz="975">
                <a:solidFill>
                  <a:srgbClr val="5E7489"/>
                </a:solidFill>
              </a:rPr>
              <a:t>Score resume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0BF070-6FC6-46E7-961D-F1303EA4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5300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A10286-87F9-4826-B3F5-7F2156FD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76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FAFF"/>
          </a:solidFill>
          <a:ln xmlns:a="http://schemas.openxmlformats.org/drawingml/2006/main" w="19050">
            <a:solidFill>
              <a:srgbClr val="F6C45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6A0445-B0F6-4B34-AA10-8156F97F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482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C453"/>
                </a:solidFill>
              </a:defRPr>
            </a:pPr>
            <a:r>
              <a:rPr sz="1500" b="1">
                <a:solidFill>
                  <a:srgbClr val="F6C453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FFDA9D-12C2-4B52-A3B2-E42D6D7D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482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263A"/>
                </a:solidFill>
              </a:defRPr>
            </a:pPr>
            <a:r>
              <a:rPr sz="1200" b="1">
                <a:solidFill>
                  <a:srgbClr val="12263A"/>
                </a:solidFill>
              </a:rPr>
              <a:t>Persist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5546F5-9C23-4FAE-9872-9CC05D13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91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7489"/>
                </a:solidFill>
              </a:defRPr>
            </a:pPr>
            <a:r>
              <a:rPr sz="975">
                <a:solidFill>
                  <a:srgbClr val="5E7489"/>
                </a:solidFill>
              </a:rPr>
              <a:t>Save analysis + evidence rows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B6DADE-841A-4059-97FB-C768ECA6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6C453"/>
                </a:solidFill>
              </a:defRPr>
            </a:pPr>
            <a:r>
              <a:rPr sz="900" b="1">
                <a:solidFill>
                  <a:srgbClr val="F6C453"/>
                </a:solidFill>
              </a:rPr>
              <a:t>TECHNOLOGY USED HERE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3569B6-847F-4FAD-83AB-1F66B85D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864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7489"/>
                </a:solidFill>
              </a:defRPr>
            </a:pPr>
            <a:r>
              <a:rPr sz="975">
                <a:solidFill>
                  <a:srgbClr val="5E7489"/>
                </a:solidFill>
              </a:rPr>
              <a:t>Algorithm: evidence-keyword-coverage-v4   ·   Backend: score_resume in ATS feature   ·   Data: ats_analyses + ats_evidence   ·   AI role: Optional improvement brief only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133685-5241-4155-B8B3-FBC9631A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B91A3"/>
                </a:solidFill>
              </a:defRPr>
            </a:pPr>
            <a:r>
              <a:rPr sz="900" b="1">
                <a:solidFill>
                  <a:srgbClr val="7B91A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5282064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827"/>
            </a:gs>
            <a:gs pos="100000">
              <a:srgbClr val="0B2942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54D439-CC15-460F-957A-663819BE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Mock Interviews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6E61E0-5935-45FC-B68E-53BE8BA0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D2E4"/>
                </a:solidFill>
              </a:defRPr>
            </a:pPr>
            <a:r>
              <a:rPr sz="1275">
                <a:solidFill>
                  <a:srgbClr val="B8D2E4"/>
                </a:solidFill>
              </a:rPr>
              <a:t>Practice the conversation, not a hiring decision.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9C79DD-D91A-4D58-B6E9-A39A45DC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9AA"/>
                </a:solidFill>
              </a:defRPr>
            </a:pPr>
            <a:r>
              <a:rPr sz="900" b="1">
                <a:solidFill>
                  <a:srgbClr val="1769AA"/>
                </a:solidFill>
              </a:rPr>
              <a:t>WHAT THIS FEATURE DOES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A8613-7923-4B9F-9AA0-0E56BB25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Run structured practice sessions with questions, answers, coaching feedback, voice options, and a session report.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0AEDDE-4033-4CA1-A715-7C462931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38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F0461-457B-4C85-B73B-E886ABB5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909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9AA"/>
                </a:solidFill>
              </a:defRPr>
            </a:pPr>
            <a:r>
              <a:rPr sz="1200" b="1">
                <a:solidFill>
                  <a:srgbClr val="1769AA"/>
                </a:solidFill>
              </a:rPr>
              <a:t>Question packs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69BFC-15DB-429E-B183-B0D0B763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909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D2E4"/>
                </a:solidFill>
              </a:defRPr>
            </a:pPr>
            <a:r>
              <a:rPr sz="1125">
                <a:solidFill>
                  <a:srgbClr val="B8D2E4"/>
                </a:solidFill>
              </a:rPr>
              <a:t>Groq structured output or local templates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6E4881-A305-4407-BCEF-A069C9F3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62425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4B33F2-B804-4B03-80C7-8F70C473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56BFE0-0586-4230-9C4E-B49B4935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815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9AA"/>
                </a:solidFill>
              </a:defRPr>
            </a:pPr>
            <a:r>
              <a:rPr sz="1200" b="1">
                <a:solidFill>
                  <a:srgbClr val="1769AA"/>
                </a:solidFill>
              </a:rPr>
              <a:t>Practice feedback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C8BC39-4DA4-4D9F-89FC-6847CCF4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381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D2E4"/>
                </a:solidFill>
              </a:defRPr>
            </a:pPr>
            <a:r>
              <a:rPr sz="1125">
                <a:solidFill>
                  <a:srgbClr val="B8D2E4"/>
                </a:solidFill>
              </a:rPr>
              <a:t>Strengths, improvements, pace, fillers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0DE144-5E32-4AD7-A431-3F6D44A7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52975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35BB72-61BD-4D70-9C0C-27FF52E8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9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2AB230-1D43-4636-AF95-8B7BF4BD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720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9AA"/>
                </a:solidFill>
              </a:defRPr>
            </a:pPr>
            <a:r>
              <a:rPr sz="1200" b="1">
                <a:solidFill>
                  <a:srgbClr val="1769AA"/>
                </a:solidFill>
              </a:rPr>
              <a:t>Voice layer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C88316-56D3-438D-A525-6E781B48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9720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D2E4"/>
                </a:solidFill>
              </a:defRPr>
            </a:pPr>
            <a:r>
              <a:rPr sz="1125">
                <a:solidFill>
                  <a:srgbClr val="B8D2E4"/>
                </a:solidFill>
              </a:rPr>
              <a:t>Browser STT/TTS plus optional Fish Audio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07F547-37BC-4369-818E-EF48E137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43525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5BB3FF-B646-41D9-B5CE-239377AB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02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9C6E85-F25A-431A-9DC8-75B6E2D3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626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9AA"/>
                </a:solidFill>
              </a:defRPr>
            </a:pPr>
            <a:r>
              <a:rPr sz="1200" b="1">
                <a:solidFill>
                  <a:srgbClr val="1769AA"/>
                </a:solidFill>
              </a:rPr>
              <a:t>Clear boundary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045375-345F-4CC3-A92E-1FE1E007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5626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D2E4"/>
                </a:solidFill>
              </a:defRPr>
            </a:pPr>
            <a:r>
              <a:rPr sz="1125">
                <a:solidFill>
                  <a:srgbClr val="B8D2E4"/>
                </a:solidFill>
              </a:rPr>
              <a:t>Coaching only — not hiring scores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1DF4D4-050A-4C53-B947-ABDF4155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934075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D2BEE9-E71A-44D6-BD2C-78A7E5F9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38350"/>
            <a:ext cx="3048000" cy="31432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23754"/>
          </a:solidFill>
          <a:ln xmlns:a="http://schemas.openxmlformats.org/drawingml/2006/main" w="19050">
            <a:solidFill>
              <a:srgbClr val="1769A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F8338B-68AA-4C0E-ABB9-AC336B02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622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9AA"/>
                </a:solidFill>
              </a:defRPr>
            </a:pPr>
            <a:r>
              <a:rPr sz="900" b="1">
                <a:solidFill>
                  <a:srgbClr val="1769AA"/>
                </a:solidFill>
              </a:rPr>
              <a:t>PRESENTER TAKEAWAY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4FFCF0-CB80-4602-B996-549991C9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57500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A clear user</a:t>
            </a:r>
          </a:p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outcome —</a:t>
            </a:r>
          </a:p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with a clear</a:t>
            </a:r>
          </a:p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boundary.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B1B61A-DCC6-4062-8F88-044C76E9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FAFC4"/>
                </a:solidFill>
              </a:defRPr>
            </a:pPr>
            <a:r>
              <a:rPr sz="900" b="1">
                <a:solidFill>
                  <a:srgbClr val="8FAFC4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209369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A58D33-81B8-405D-91B2-86A821A3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How Mock Interviews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CAF94F-C91F-4BEF-B9D0-C0D30CE1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D2E4"/>
                </a:solidFill>
              </a:defRPr>
            </a:pPr>
            <a:r>
              <a:rPr sz="1275">
                <a:solidFill>
                  <a:srgbClr val="B8D2E4"/>
                </a:solidFill>
              </a:rPr>
              <a:t>The user action, the server path, and the technology behind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1852A-F544-4338-B046-72310DA0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3337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2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896B1B-9043-42EE-A8FA-371C32D4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2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041CA5-35D8-446F-959F-6F1B88C7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3337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2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DFEB45-08C0-467D-BD5B-422F38D8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809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23754"/>
          </a:solidFill>
          <a:ln xmlns:a="http://schemas.openxmlformats.org/drawingml/2006/main" w="19050">
            <a:solidFill>
              <a:srgbClr val="1769A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FAE417-1B72-4DF4-BAA5-312F5943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9FA45-48FF-4996-88A3-5F2C734E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670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1827"/>
                </a:solidFill>
              </a:defRPr>
            </a:pPr>
            <a:r>
              <a:rPr sz="750" b="1">
                <a:solidFill>
                  <a:srgbClr val="071827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692A32-1006-4599-A513-9D5E303E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Prepare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46DE55-2533-4090-ADD5-B01F26C8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480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8D2E4"/>
                </a:solidFill>
              </a:defRPr>
            </a:pPr>
            <a:r>
              <a:rPr sz="975">
                <a:solidFill>
                  <a:srgbClr val="B8D2E4"/>
                </a:solidFill>
              </a:rPr>
              <a:t>Build evidence pack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73955C-161D-4CDC-9D25-4C06D0C9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90800"/>
            <a:ext cx="1809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23754"/>
          </a:solidFill>
          <a:ln xmlns:a="http://schemas.openxmlformats.org/drawingml/2006/main" w="19050">
            <a:solidFill>
              <a:srgbClr val="1769A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6DCC5B-0A9E-4016-AEC8-AEB22359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800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6F28EC-B38F-4383-BFB5-60F8DD46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670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1827"/>
                </a:solidFill>
              </a:defRPr>
            </a:pPr>
            <a:r>
              <a:rPr sz="750" b="1">
                <a:solidFill>
                  <a:srgbClr val="071827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ECE21E-27DD-4C95-A6DA-B0FEDA1B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33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Start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8C64DA-A192-420A-873F-DBA3BC3F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480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8D2E4"/>
                </a:solidFill>
              </a:defRPr>
            </a:pPr>
            <a:r>
              <a:rPr sz="975">
                <a:solidFill>
                  <a:srgbClr val="B8D2E4"/>
                </a:solidFill>
              </a:rPr>
              <a:t>Generate or load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3AD8D7-CDCF-47CD-92C9-24E7A031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590800"/>
            <a:ext cx="1809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23754"/>
          </a:solidFill>
          <a:ln xmlns:a="http://schemas.openxmlformats.org/drawingml/2006/main" w="19050">
            <a:solidFill>
              <a:srgbClr val="1769A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1EC0C9-7039-4404-998A-09F2C222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00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FD59E1-DEBF-4129-8F95-2C775936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670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1827"/>
                </a:solidFill>
              </a:defRPr>
            </a:pPr>
            <a:r>
              <a:rPr sz="750" b="1">
                <a:solidFill>
                  <a:srgbClr val="071827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B8DBEA-CED1-4ABA-B189-FF8DB80A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333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Respond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017A0A-2209-49B8-8257-75288E34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6480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8D2E4"/>
                </a:solidFill>
              </a:defRPr>
            </a:pPr>
            <a:r>
              <a:rPr sz="975">
                <a:solidFill>
                  <a:srgbClr val="B8D2E4"/>
                </a:solidFill>
              </a:rPr>
              <a:t>Capture answer + metrics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5F50EF-4302-410A-9EC7-5399FE10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90800"/>
            <a:ext cx="1809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23754"/>
          </a:solidFill>
          <a:ln xmlns:a="http://schemas.openxmlformats.org/drawingml/2006/main" w="19050">
            <a:solidFill>
              <a:srgbClr val="1769A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060A6A-DB25-4B70-8A2F-3C35605D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00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0001ED-1E63-4EBC-80A4-3C269574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670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1827"/>
                </a:solidFill>
              </a:defRPr>
            </a:pPr>
            <a:r>
              <a:rPr sz="750" b="1">
                <a:solidFill>
                  <a:srgbClr val="071827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F8B2ED-4A43-444D-9C8D-D64E2B72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33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Complete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AD51DF-F20A-4C6C-A98A-BBE83333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480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8D2E4"/>
                </a:solidFill>
              </a:defRPr>
            </a:pPr>
            <a:r>
              <a:rPr sz="975">
                <a:solidFill>
                  <a:srgbClr val="B8D2E4"/>
                </a:solidFill>
              </a:rPr>
              <a:t>Persist report after all answers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F63D07-03B7-4B5F-91ED-0F365F8E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9AA"/>
                </a:solidFill>
              </a:defRPr>
            </a:pPr>
            <a:r>
              <a:rPr sz="900" b="1">
                <a:solidFill>
                  <a:srgbClr val="1769AA"/>
                </a:solidFill>
              </a:rPr>
              <a:t>TECHNOLOGY USED HERE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2E95E7-E170-4B44-9670-7B05BEE8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9AA"/>
                </a:solidFill>
              </a:defRPr>
            </a:pPr>
            <a:r>
              <a:rPr sz="1125" b="1">
                <a:solidFill>
                  <a:srgbClr val="1769AA"/>
                </a:solidFill>
              </a:rPr>
              <a:t>Frontend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2787C4-A3DC-4C5A-B4AA-859319BD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D2E4"/>
                </a:solidFill>
              </a:defRPr>
            </a:pPr>
            <a:r>
              <a:rPr sz="1050">
                <a:solidFill>
                  <a:srgbClr val="B8D2E4"/>
                </a:solidFill>
              </a:rPr>
              <a:t>React session UI + Web Speech API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DC8EFE-454A-4C68-B009-600B8E38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3149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9AA"/>
                </a:solidFill>
              </a:defRPr>
            </a:pPr>
            <a:r>
              <a:rPr sz="1125" b="1">
                <a:solidFill>
                  <a:srgbClr val="1769AA"/>
                </a:solidFill>
              </a:rPr>
              <a:t>Backend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5E8404-1BB4-46FB-8AD4-A4E44A40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5816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D2E4"/>
                </a:solidFill>
              </a:defRPr>
            </a:pPr>
            <a:r>
              <a:rPr sz="1050">
                <a:solidFill>
                  <a:srgbClr val="B8D2E4"/>
                </a:solidFill>
              </a:rPr>
              <a:t>Interview routes + evaluator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FA7CCE-3A67-4860-8828-CD9D6729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149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9AA"/>
                </a:solidFill>
              </a:defRPr>
            </a:pPr>
            <a:r>
              <a:rPr sz="1125" b="1">
                <a:solidFill>
                  <a:srgbClr val="1769AA"/>
                </a:solidFill>
              </a:rPr>
              <a:t>AI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4A55F6-197B-413D-BE87-D981A674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5816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D2E4"/>
                </a:solidFill>
              </a:defRPr>
            </a:pPr>
            <a:r>
              <a:rPr sz="1050">
                <a:solidFill>
                  <a:srgbClr val="B8D2E4"/>
                </a:solidFill>
              </a:rPr>
              <a:t>Groq preferred, templates fallback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C3300B-09D0-4628-8128-8859F1C0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3149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9AA"/>
                </a:solidFill>
              </a:defRPr>
            </a:pPr>
            <a:r>
              <a:rPr sz="1125" b="1">
                <a:solidFill>
                  <a:srgbClr val="1769AA"/>
                </a:solidFill>
              </a:rPr>
              <a:t>Audio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935FDE-DED4-4B01-A674-4A641B4E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5816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D2E4"/>
                </a:solidFill>
              </a:defRPr>
            </a:pPr>
            <a:r>
              <a:rPr sz="1050">
                <a:solidFill>
                  <a:srgbClr val="B8D2E4"/>
                </a:solidFill>
              </a:rPr>
              <a:t>Fish Audio optional, browser fallback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D7C52E-42E4-48D9-9B9C-1707A964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FAFC4"/>
                </a:solidFill>
              </a:defRPr>
            </a:pPr>
            <a:r>
              <a:rPr sz="900" b="1">
                <a:solidFill>
                  <a:srgbClr val="8FAFC4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772573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CF4DD0-E511-4A45-BD86-ECCEEA51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2263A"/>
                </a:solidFill>
              </a:defRPr>
            </a:pPr>
            <a:r>
              <a:rPr sz="2625" b="1">
                <a:solidFill>
                  <a:srgbClr val="12263A"/>
                </a:solidFill>
              </a:rPr>
              <a:t>Learning Paths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57C0A-0055-4AA7-BACE-9BF40B70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E7489"/>
                </a:solidFill>
              </a:defRPr>
            </a:pPr>
            <a:r>
              <a:rPr sz="1275">
                <a:solidFill>
                  <a:srgbClr val="5E7489"/>
                </a:solidFill>
              </a:rPr>
              <a:t>Turn ATS gaps into a practical learning route.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6F14E2-73A3-4F50-A5A5-168FAC88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333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C5718-E5FA-4548-8D92-A441498C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14550"/>
            <a:ext cx="5905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263A"/>
                </a:solidFill>
              </a:defRPr>
            </a:pPr>
            <a:r>
              <a:rPr sz="2175" b="1">
                <a:solidFill>
                  <a:srgbClr val="12263A"/>
                </a:solidFill>
              </a:rPr>
              <a:t>Use missing evidence as a starting point for learning instead of leaving the candidate with a static score.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F3F5D9-E11D-47DE-A53E-1DB5D34C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957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8C4E8"/>
                </a:solidFill>
              </a:defRPr>
            </a:pPr>
            <a:r>
              <a:rPr sz="900" b="1">
                <a:solidFill>
                  <a:srgbClr val="48C4E8"/>
                </a:solidFill>
              </a:rPr>
              <a:t>THE FEATURE IN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D1BC92-0CB8-4FF1-9106-82C8E71C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33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C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1215A1-38CF-446B-9A34-3E7D689F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957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8C4E8"/>
                </a:solidFill>
              </a:defRPr>
            </a:pPr>
            <a:r>
              <a:rPr sz="1125" b="1">
                <a:solidFill>
                  <a:srgbClr val="48C4E8"/>
                </a:solidFill>
              </a:rPr>
              <a:t>Gap-driven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BB26FA-7EA7-4E30-8B8B-6BC29209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957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7489"/>
                </a:solidFill>
              </a:defRPr>
            </a:pPr>
            <a:r>
              <a:rPr sz="1050">
                <a:solidFill>
                  <a:srgbClr val="5E7489"/>
                </a:solidFill>
              </a:rPr>
              <a:t>Starts from persisted ATS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B04CE5-FCC4-4046-899B-5B47073A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67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C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BB68B8-4C37-4053-B92F-95303F26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291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8C4E8"/>
                </a:solidFill>
              </a:defRPr>
            </a:pPr>
            <a:r>
              <a:rPr sz="1125" b="1">
                <a:solidFill>
                  <a:srgbClr val="48C4E8"/>
                </a:solidFill>
              </a:rPr>
              <a:t>Real resources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E611E9-3710-4D2D-81A1-BCECE45B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291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7489"/>
                </a:solidFill>
              </a:defRPr>
            </a:pPr>
            <a:r>
              <a:rPr sz="1050">
                <a:solidFill>
                  <a:srgbClr val="5E7489"/>
                </a:solidFill>
              </a:rPr>
              <a:t>YouTube API or search URLs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0BF7AA-7EDE-42A2-ADC5-9387E50D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00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C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BC363B-B66E-42E2-8FC3-355A91AE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62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8C4E8"/>
                </a:solidFill>
              </a:defRPr>
            </a:pPr>
            <a:r>
              <a:rPr sz="1125" b="1">
                <a:solidFill>
                  <a:srgbClr val="48C4E8"/>
                </a:solidFill>
              </a:rPr>
              <a:t>Allowlisted articles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732A42-1832-477A-8F2C-55481DCA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625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7489"/>
                </a:solidFill>
              </a:defRPr>
            </a:pPr>
            <a:r>
              <a:rPr sz="1050">
                <a:solidFill>
                  <a:srgbClr val="5E7489"/>
                </a:solidFill>
              </a:rPr>
              <a:t>Search links, not invented pages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63112B-78E3-43C1-A902-D9EE7F74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34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C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4A71D7-314F-43DE-B9EF-6FCC64E0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6959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8C4E8"/>
                </a:solidFill>
              </a:defRPr>
            </a:pPr>
            <a:r>
              <a:rPr sz="1125" b="1">
                <a:solidFill>
                  <a:srgbClr val="48C4E8"/>
                </a:solidFill>
              </a:rPr>
              <a:t>Crew optional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C4EBF7-E3A6-4CA4-964C-D1AD1459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6959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7489"/>
                </a:solidFill>
              </a:defRPr>
            </a:pPr>
            <a:r>
              <a:rPr sz="1050">
                <a:solidFill>
                  <a:srgbClr val="5E7489"/>
                </a:solidFill>
              </a:rPr>
              <a:t>Built-in sequential orchestrator fallback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CD4DE4-0A83-487C-BE16-1B6E3DF7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2857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48C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DBC3CB-AD4B-4BD7-9A51-5FE9AB76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0B2942"/>
                </a:solidFill>
              </a:defRPr>
            </a:pPr>
            <a:r>
              <a:rPr sz="4800" b="1">
                <a:solidFill>
                  <a:srgbClr val="0B2942"/>
                </a:solidFill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C6964F-553D-417C-BDFC-C5041329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242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2942"/>
                </a:solidFill>
              </a:defRPr>
            </a:pPr>
            <a:r>
              <a:rPr sz="900" b="1">
                <a:solidFill>
                  <a:srgbClr val="0B2942"/>
                </a:solidFill>
              </a:rPr>
              <a:t>PRESENTER CUE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9CAE11-A1E5-43C9-9548-2639C649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2263A"/>
                </a:solidFill>
              </a:defRPr>
            </a:pPr>
            <a:r>
              <a:rPr sz="1200">
                <a:solidFill>
                  <a:srgbClr val="12263A"/>
                </a:solidFill>
              </a:rPr>
              <a:t>Explain the user outcome first. Then show the boundary that keeps it trustworthy.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481F12-D60B-4DF9-BE67-C4674C18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B91A3"/>
                </a:solidFill>
              </a:defRPr>
            </a:pPr>
            <a:r>
              <a:rPr sz="900" b="1">
                <a:solidFill>
                  <a:srgbClr val="7B91A3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1804982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57B691-B77C-49CC-AD54-09578F80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2263A"/>
                </a:solidFill>
              </a:defRPr>
            </a:pPr>
            <a:r>
              <a:rPr sz="2625" b="1">
                <a:solidFill>
                  <a:srgbClr val="12263A"/>
                </a:solidFill>
              </a:rPr>
              <a:t>How Learning Paths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4CF316-7901-4E71-94FD-C9547216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E7489"/>
                </a:solidFill>
              </a:defRPr>
            </a:pPr>
            <a:r>
              <a:rPr sz="1275">
                <a:solidFill>
                  <a:srgbClr val="5E7489"/>
                </a:solidFill>
              </a:rPr>
              <a:t>The user action, the server path, and the technology behind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97629A-6B6E-426A-84B7-A58E415A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381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0BB8F5-A7A7-4EB9-96D5-2CC0FB3D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C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7A6B40-6BC0-4968-82C8-584845F6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28875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F5FC7E-40A3-4750-8D49-0E70436D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622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263A"/>
                </a:solidFill>
              </a:defRPr>
            </a:pPr>
            <a:r>
              <a:rPr sz="1350" b="1">
                <a:solidFill>
                  <a:srgbClr val="12263A"/>
                </a:solidFill>
              </a:rPr>
              <a:t>Find gaps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AE9A36-9502-466D-8DC1-F3BE9AA3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622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7489"/>
                </a:solidFill>
              </a:defRPr>
            </a:pPr>
            <a:r>
              <a:rPr sz="1050">
                <a:solidFill>
                  <a:srgbClr val="5E7489"/>
                </a:solidFill>
              </a:rPr>
              <a:t>Read missing ATS terms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28262B-A9D0-4284-808B-AA5596AF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861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C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872566-A006-4458-86E2-BDDAC81C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71825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1F311D-B6A4-46E2-9FE8-3FE8E5E6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051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263A"/>
                </a:solidFill>
              </a:defRPr>
            </a:pPr>
            <a:r>
              <a:rPr sz="1350" b="1">
                <a:solidFill>
                  <a:srgbClr val="12263A"/>
                </a:solidFill>
              </a:rPr>
              <a:t>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DD3EA0-9F27-4266-A96F-7E13E22E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051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7489"/>
                </a:solidFill>
              </a:defRPr>
            </a:pPr>
            <a:r>
              <a:rPr sz="1050">
                <a:solidFill>
                  <a:srgbClr val="5E7489"/>
                </a:solidFill>
              </a:rPr>
              <a:t>Create ordered learning path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660BFB-7190-4852-8BDA-FECE48F7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29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C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9E2043-A073-4286-AEE5-EEA4CD23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14775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48E07B-CC66-4658-94F4-7AAFB0E2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481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263A"/>
                </a:solidFill>
              </a:defRPr>
            </a:pPr>
            <a:r>
              <a:rPr sz="1350" b="1">
                <a:solidFill>
                  <a:srgbClr val="12263A"/>
                </a:solidFill>
              </a:rPr>
              <a:t>Source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D33998-B9D4-44AA-A6C8-B7490960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481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7489"/>
                </a:solidFill>
              </a:defRPr>
            </a:pPr>
            <a:r>
              <a:rPr sz="1050">
                <a:solidFill>
                  <a:srgbClr val="5E7489"/>
                </a:solidFill>
              </a:rPr>
              <a:t>Fetch videos or safe search links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BBFDA0-0659-4A89-B428-AA42FD1D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72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C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3428E7-6237-41A2-B15A-A0517601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57725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3B723A-7DF9-42A1-9A15-AB80E132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910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263A"/>
                </a:solidFill>
              </a:defRPr>
            </a:pPr>
            <a:r>
              <a:rPr sz="1350" b="1">
                <a:solidFill>
                  <a:srgbClr val="12263A"/>
                </a:solidFill>
              </a:rPr>
              <a:t>Save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FC4234-E469-4BB5-BC5E-3773007C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910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7489"/>
                </a:solidFill>
              </a:defRPr>
            </a:pPr>
            <a:r>
              <a:rPr sz="1050">
                <a:solidFill>
                  <a:srgbClr val="5E7489"/>
                </a:solidFill>
              </a:rPr>
              <a:t>Persist path and items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97ABC8-D891-4D01-9C00-1CE6A160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66950"/>
            <a:ext cx="34290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FAFF"/>
          </a:solidFill>
          <a:ln xmlns:a="http://schemas.openxmlformats.org/drawingml/2006/main" w="19050">
            <a:solidFill>
              <a:srgbClr val="48C4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3803B7-6793-41EF-9C48-AB826F47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717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8C4E8"/>
                </a:solidFill>
              </a:defRPr>
            </a:pPr>
            <a:r>
              <a:rPr sz="900" b="1">
                <a:solidFill>
                  <a:srgbClr val="48C4E8"/>
                </a:solidFill>
              </a:rPr>
              <a:t>TECHNOLOGY STACK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20AAB0-B6C4-4B61-A491-39512EC7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48000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8C4E8"/>
                </a:solidFill>
              </a:defRPr>
            </a:pPr>
            <a:r>
              <a:rPr sz="1050" b="1">
                <a:solidFill>
                  <a:srgbClr val="48C4E8"/>
                </a:solidFill>
              </a:rPr>
              <a:t>Planner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05CAEC-30DB-4303-94B3-82D4BB90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480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7489"/>
                </a:solidFill>
              </a:defRPr>
            </a:pPr>
            <a:r>
              <a:rPr sz="975">
                <a:solidFill>
                  <a:srgbClr val="5E7489"/>
                </a:solidFill>
              </a:rPr>
              <a:t>LLM prompt pack for learning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9A3B42-3712-4DC0-92E5-394B870F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24250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8C4E8"/>
                </a:solidFill>
              </a:defRPr>
            </a:pPr>
            <a:r>
              <a:rPr sz="1050" b="1">
                <a:solidFill>
                  <a:srgbClr val="48C4E8"/>
                </a:solidFill>
              </a:rPr>
              <a:t>Fallback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A747F2-65CF-489E-9388-B36C5B3F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5242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7489"/>
                </a:solidFill>
              </a:defRPr>
            </a:pPr>
            <a:r>
              <a:rPr sz="975">
                <a:solidFill>
                  <a:srgbClr val="5E7489"/>
                </a:solidFill>
              </a:rPr>
              <a:t>Deterministic search URL behavior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B23A10-5270-4FFD-A09A-066C3CD6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00500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8C4E8"/>
                </a:solidFill>
              </a:defRPr>
            </a:pPr>
            <a:r>
              <a:rPr sz="1050" b="1">
                <a:solidFill>
                  <a:srgbClr val="48C4E8"/>
                </a:solidFill>
              </a:rPr>
              <a:t>External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57F74D-0FBA-4778-AD9E-CD7D6ACA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005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7489"/>
                </a:solidFill>
              </a:defRPr>
            </a:pPr>
            <a:r>
              <a:rPr sz="975">
                <a:solidFill>
                  <a:srgbClr val="5E7489"/>
                </a:solidFill>
              </a:rPr>
              <a:t>YouTube API + allowlisted article search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D361BC-EE86-4830-A507-8C9710FF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76750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8C4E8"/>
                </a:solidFill>
              </a:defRPr>
            </a:pPr>
            <a:r>
              <a:rPr sz="1050" b="1">
                <a:solidFill>
                  <a:srgbClr val="48C4E8"/>
                </a:solidFill>
              </a:rPr>
              <a:t>Data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3A7C45-308C-4CF9-A8C1-B5D9293B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767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7489"/>
                </a:solidFill>
              </a:defRPr>
            </a:pPr>
            <a:r>
              <a:rPr sz="975">
                <a:solidFill>
                  <a:srgbClr val="5E7489"/>
                </a:solidFill>
              </a:rPr>
              <a:t>learning_paths + items + resources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5FBAB4-9241-48B4-AFFB-71246FAA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B91A3"/>
                </a:solidFill>
              </a:defRPr>
            </a:pPr>
            <a:r>
              <a:rPr sz="900" b="1">
                <a:solidFill>
                  <a:srgbClr val="7B91A3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8757185"/>
      </p:ext>
    </p:extLst>
  </p:cSld>
</p:sld>
</file>

<file path=ppt/slides/slide1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827"/>
            </a:gs>
            <a:gs pos="100000">
              <a:srgbClr val="0B2942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15A4F0-88BC-482F-8B51-300E2AC6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Job Matching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A94525-2660-4440-9E8F-9B78ABBD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D2E4"/>
                </a:solidFill>
              </a:defRPr>
            </a:pPr>
            <a:r>
              <a:rPr sz="1275">
                <a:solidFill>
                  <a:srgbClr val="B8D2E4"/>
                </a:solidFill>
              </a:rPr>
              <a:t>Recommend roles from confirmed resume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BCF5A4-0587-419A-8D45-C1BF4B2F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765F"/>
                </a:solidFill>
              </a:defRPr>
            </a:pPr>
            <a:r>
              <a:rPr sz="900" b="1">
                <a:solidFill>
                  <a:srgbClr val="FF765F"/>
                </a:solidFill>
              </a:rPr>
              <a:t>WHAT THIS FEATURE DOES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038C03-683A-41C8-BDC6-2F904653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Match the candidate to jobs using the same grounded source that powers ATS — with saved and pipeline states for follow-through.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3BA22-E942-4CE7-A3A6-D2C3A600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383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765F"/>
                </a:solidFill>
              </a:defRPr>
            </a:pPr>
            <a:r>
              <a:rPr sz="1125" b="1">
                <a:solidFill>
                  <a:srgbClr val="FF765F"/>
                </a:solidFill>
              </a:rPr>
              <a:t>FEATURE</a:t>
            </a:r>
          </a:p>
          <a:p xmlns:a="http://schemas.openxmlformats.org/drawingml/2006/main">
            <a:pPr>
              <a:defRPr sz="1125" b="1">
                <a:solidFill>
                  <a:srgbClr val="FF765F"/>
                </a:solidFill>
              </a:defRPr>
            </a:pPr>
            <a:r>
              <a:rPr sz="1125" b="1">
                <a:solidFill>
                  <a:srgbClr val="FF765F"/>
                </a:solidFill>
              </a:rPr>
              <a:t>OUTCOME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5A2CA-547D-462E-84FA-46FD2A8F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47950"/>
            <a:ext cx="266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700" b="1">
                <a:solidFill>
                  <a:srgbClr val="FF765F"/>
                </a:solidFill>
              </a:defRPr>
            </a:pPr>
            <a:r>
              <a:rPr sz="8700" b="1">
                <a:solidFill>
                  <a:srgbClr val="FF765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F9EA0-F697-441E-8EAD-CE5B5D9C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38600"/>
            <a:ext cx="342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E1744E-3393-426D-8939-72A45837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243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D2E4"/>
                </a:solidFill>
              </a:defRPr>
            </a:pPr>
            <a:r>
              <a:rPr sz="1275">
                <a:solidFill>
                  <a:srgbClr val="B8D2E4"/>
                </a:solidFill>
              </a:rPr>
              <a:t>The candidate can see what changed, why it matters, and what to do next.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B2AEC7-6B7A-48E1-BB51-03DDF1B0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6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205BC7-887F-40B1-846B-B9BBB88A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765F"/>
                </a:solidFill>
              </a:defRPr>
            </a:pPr>
            <a:r>
              <a:rPr sz="1125" b="1">
                <a:solidFill>
                  <a:srgbClr val="FF765F"/>
                </a:solidFill>
              </a:rPr>
              <a:t>Evidence match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4B68F6-E0AF-4728-B7B3-DD6FCC58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8D2E4"/>
                </a:solidFill>
              </a:defRPr>
            </a:pPr>
            <a:r>
              <a:rPr sz="975">
                <a:solidFill>
                  <a:srgbClr val="B8D2E4"/>
                </a:solidFill>
              </a:rPr>
              <a:t>Score catalog against confirmed resume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636D38-2D1B-4B45-B4D4-594D2E34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133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6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23489B-6652-4B61-96A4-8BC3AED5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957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765F"/>
                </a:solidFill>
              </a:defRPr>
            </a:pPr>
            <a:r>
              <a:rPr sz="1125" b="1">
                <a:solidFill>
                  <a:srgbClr val="FF765F"/>
                </a:solidFill>
              </a:rPr>
              <a:t>Optional sync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5A0E4A-7D6D-4A0F-AC62-80696306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24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8D2E4"/>
                </a:solidFill>
              </a:defRPr>
            </a:pPr>
            <a:r>
              <a:rPr sz="975">
                <a:solidFill>
                  <a:srgbClr val="B8D2E4"/>
                </a:solidFill>
              </a:rPr>
              <a:t>Adzuna page-one import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84475E-FE50-4EEB-8C5B-DCDE44D8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6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7825C7-46E7-49C5-AFBA-5CF3BC25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765F"/>
                </a:solidFill>
              </a:defRPr>
            </a:pPr>
            <a:r>
              <a:rPr sz="1125" b="1">
                <a:solidFill>
                  <a:srgbClr val="FF765F"/>
                </a:solidFill>
              </a:rPr>
              <a:t>Job workflow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7E215F-6C0B-4746-86D5-EB0582EA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86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8D2E4"/>
                </a:solidFill>
              </a:defRPr>
            </a:pPr>
            <a:r>
              <a:rPr sz="975">
                <a:solidFill>
                  <a:srgbClr val="B8D2E4"/>
                </a:solidFill>
              </a:rPr>
              <a:t>Save, track, and move through pipeline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15AF61-3182-464C-A067-42AC8037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895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6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3A60F9-84EB-44D9-9009-4C331DAA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577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765F"/>
                </a:solidFill>
              </a:defRPr>
            </a:pPr>
            <a:r>
              <a:rPr sz="1125" b="1">
                <a:solidFill>
                  <a:srgbClr val="FF765F"/>
                </a:solidFill>
              </a:rPr>
              <a:t>No invented fit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1274D7-7F10-430A-B831-56F80A59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86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8D2E4"/>
                </a:solidFill>
              </a:defRPr>
            </a:pPr>
            <a:r>
              <a:rPr sz="975">
                <a:solidFill>
                  <a:srgbClr val="B8D2E4"/>
                </a:solidFill>
              </a:rPr>
              <a:t>No unsupported career claims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EFB599-9FEA-424A-A53E-F5550D24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FAFC4"/>
                </a:solidFill>
              </a:defRPr>
            </a:pPr>
            <a:r>
              <a:rPr sz="900" b="1">
                <a:solidFill>
                  <a:srgbClr val="8FAFC4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031239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D38937-E1A4-4009-8B13-27210A12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How Job Matching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84C2BE-AD4A-47E4-9919-20504B8A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D2E4"/>
                </a:solidFill>
              </a:defRPr>
            </a:pPr>
            <a:r>
              <a:rPr sz="1275">
                <a:solidFill>
                  <a:srgbClr val="B8D2E4"/>
                </a:solidFill>
              </a:rPr>
              <a:t>The user action, the server path, and the technology behind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AC712E-9464-4306-B68D-7358B9A2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765F"/>
                </a:solidFill>
              </a:defRPr>
            </a:pPr>
            <a:r>
              <a:rPr sz="900" b="1">
                <a:solidFill>
                  <a:srgbClr val="FF765F"/>
                </a:solidFill>
              </a:rPr>
              <a:t>THE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FEF105-A982-486B-8BB4-A7FE9911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4191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23754"/>
          </a:solidFill>
          <a:ln xmlns:a="http://schemas.openxmlformats.org/drawingml/2006/main" w="19050">
            <a:solidFill>
              <a:srgbClr val="FF76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851AE1-94BC-4709-82F0-FD7FFA48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765F"/>
                </a:solidFill>
              </a:defRPr>
            </a:pPr>
            <a:r>
              <a:rPr sz="2100" b="1">
                <a:solidFill>
                  <a:srgbClr val="FF765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DCF50E-89CF-41A2-9545-3C4E34A5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003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Load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2129CE-D75C-4409-AC21-A6184C62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861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D2E4"/>
                </a:solidFill>
              </a:defRPr>
            </a:pPr>
            <a:r>
              <a:rPr sz="1050">
                <a:solidFill>
                  <a:srgbClr val="B8D2E4"/>
                </a:solidFill>
              </a:rPr>
              <a:t>Read confirmed resume 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ABD91-B7AC-40E7-ABA5-DAAF455B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90800"/>
            <a:ext cx="4191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23754"/>
          </a:solidFill>
          <a:ln xmlns:a="http://schemas.openxmlformats.org/drawingml/2006/main" w="19050">
            <a:solidFill>
              <a:srgbClr val="FF76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603B6D-2EE2-4C57-A38D-6E367853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003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765F"/>
                </a:solidFill>
              </a:defRPr>
            </a:pPr>
            <a:r>
              <a:rPr sz="2100" b="1">
                <a:solidFill>
                  <a:srgbClr val="FF765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2F7BB9-9AA0-49A5-99EB-96097580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003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45AC9E-A299-4E48-8A5C-76C6B72A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861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D2E4"/>
                </a:solidFill>
              </a:defRPr>
            </a:pPr>
            <a:r>
              <a:rPr sz="1050">
                <a:solidFill>
                  <a:srgbClr val="B8D2E4"/>
                </a:solidFill>
              </a:rPr>
              <a:t>Match job terms and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961CF6-6911-4D4C-9EF1-1FF9321C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191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23754"/>
          </a:solidFill>
          <a:ln xmlns:a="http://schemas.openxmlformats.org/drawingml/2006/main" w="19050">
            <a:solidFill>
              <a:srgbClr val="FF76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94BA9F-DEEE-4BB5-B82E-014335E9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2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765F"/>
                </a:solidFill>
              </a:defRPr>
            </a:pPr>
            <a:r>
              <a:rPr sz="2100" b="1">
                <a:solidFill>
                  <a:srgbClr val="FF765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0AD9AC-D1ED-469A-AB97-4FD1FFBB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529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Recommend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A07B86-A2F1-430D-B59F-2DD1A895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438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D2E4"/>
                </a:solidFill>
              </a:defRPr>
            </a:pPr>
            <a:r>
              <a:rPr sz="1050">
                <a:solidFill>
                  <a:srgbClr val="B8D2E4"/>
                </a:solidFill>
              </a:rPr>
              <a:t>Store per-user results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0D152E-2318-4C2D-8978-56BC9955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43350"/>
            <a:ext cx="4191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23754"/>
          </a:solidFill>
          <a:ln xmlns:a="http://schemas.openxmlformats.org/drawingml/2006/main" w="19050">
            <a:solidFill>
              <a:srgbClr val="FF76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6E2A22-C929-4CC5-B84B-D0C40F20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152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765F"/>
                </a:solidFill>
              </a:defRPr>
            </a:pPr>
            <a:r>
              <a:rPr sz="2100" b="1">
                <a:solidFill>
                  <a:srgbClr val="FF765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9E6EAB-4D92-4772-978A-F7A4B2D0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529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C3EEF3-BB99-4F7A-B88D-DB1BB732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38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D2E4"/>
                </a:solidFill>
              </a:defRPr>
            </a:pPr>
            <a:r>
              <a:rPr sz="1050">
                <a:solidFill>
                  <a:srgbClr val="B8D2E4"/>
                </a:solidFill>
              </a:rPr>
              <a:t>Save or track application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43DF1C-585D-4A31-B8DC-228C6C47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765F"/>
                </a:solidFill>
              </a:defRPr>
            </a:pPr>
            <a:r>
              <a:rPr sz="900" b="1">
                <a:solidFill>
                  <a:srgbClr val="FF765F"/>
                </a:solidFill>
              </a:rPr>
              <a:t>WHAT SUPPORTS THE 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0ECFA2-59BD-4490-A32E-6FB8516C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62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D2E4"/>
                </a:solidFill>
              </a:defRPr>
            </a:pPr>
            <a:r>
              <a:rPr sz="1050">
                <a:solidFill>
                  <a:srgbClr val="B8D2E4"/>
                </a:solidFill>
              </a:rPr>
              <a:t>Matcher: evidence-keyword-match-v1   ·   External: Adzuna optional sync   ·   Data: jobs + recommendations + saved jobs   ·   UI: Jobs feed, detail, globe, pipeline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D8125B-5528-4E0A-8A21-066B13D8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FAFC4"/>
                </a:solidFill>
              </a:defRPr>
            </a:pPr>
            <a:r>
              <a:rPr sz="900" b="1">
                <a:solidFill>
                  <a:srgbClr val="8FAFC4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74363541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F9F0ED-4052-4EBC-9E93-C30745A3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2263A"/>
                </a:solidFill>
              </a:defRPr>
            </a:pPr>
            <a:r>
              <a:rPr sz="2625" b="1">
                <a:solidFill>
                  <a:srgbClr val="12263A"/>
                </a:solidFill>
              </a:rPr>
              <a:t>Resume Improvement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0E596-18E0-4780-AA8F-9501F8D1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E7489"/>
                </a:solidFill>
              </a:defRPr>
            </a:pPr>
            <a:r>
              <a:rPr sz="1275">
                <a:solidFill>
                  <a:srgbClr val="5E7489"/>
                </a:solidFill>
              </a:rPr>
              <a:t>Suggest stronger wording without inventing experience.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393DF-1525-464B-AA22-CB3A2930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363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93EEA-9EAB-4C8B-BE82-9EC5F8FF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6C453"/>
                </a:solidFill>
              </a:defRPr>
            </a:pPr>
            <a:r>
              <a:rPr sz="900" b="1">
                <a:solidFill>
                  <a:srgbClr val="F6C453"/>
                </a:solidFill>
              </a:rPr>
              <a:t>FEATURE SNAPSHOT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5BBCA0-3AFB-4B4B-A561-DEE63E50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263A"/>
                </a:solidFill>
              </a:defRPr>
            </a:pPr>
            <a:r>
              <a:rPr sz="2325" b="1">
                <a:solidFill>
                  <a:srgbClr val="12263A"/>
                </a:solidFill>
              </a:rPr>
              <a:t>Use ATS gaps to propose evidence-checked rewrites, let the candidate accept or edit them, then create a new version.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24A39F-609B-4165-85C1-4A62A9D4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8B174B-B8DA-4D68-A116-293EA1D3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C453"/>
                </a:solidFill>
              </a:defRPr>
            </a:pPr>
            <a:r>
              <a:rPr sz="1125" b="1">
                <a:solidFill>
                  <a:srgbClr val="F6C453"/>
                </a:solidFill>
              </a:rPr>
              <a:t>Gap analyst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43D1BB-CD5E-4179-9C5A-B4FA3988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7489"/>
                </a:solidFill>
              </a:defRPr>
            </a:pPr>
            <a:r>
              <a:rPr sz="1050">
                <a:solidFill>
                  <a:srgbClr val="5E7489"/>
                </a:solidFill>
              </a:rPr>
              <a:t>Starts from missing ATS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BD0ACA-8A71-4ECD-AC2F-16CCBAA3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48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A1F5D2-DE1D-45D7-8D73-A79F8A80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72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C453"/>
                </a:solidFill>
              </a:defRPr>
            </a:pPr>
            <a:r>
              <a:rPr sz="1125" b="1">
                <a:solidFill>
                  <a:srgbClr val="F6C453"/>
                </a:solidFill>
              </a:rPr>
              <a:t>Improver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B4395B-46F6-4812-BB1D-0254EF54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958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7489"/>
                </a:solidFill>
              </a:defRPr>
            </a:pPr>
            <a:r>
              <a:rPr sz="1050">
                <a:solidFill>
                  <a:srgbClr val="5E7489"/>
                </a:solidFill>
              </a:rPr>
              <a:t>LLM proposes targeted rewrites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629EDD-30C9-4F86-AF97-A40EEA92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48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5C45CE-0302-4406-BF4C-FB53D54E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572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C453"/>
                </a:solidFill>
              </a:defRPr>
            </a:pPr>
            <a:r>
              <a:rPr sz="1125" b="1">
                <a:solidFill>
                  <a:srgbClr val="F6C453"/>
                </a:solidFill>
              </a:rPr>
              <a:t>Validator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6FB7C3-C52D-4090-B43B-FF158766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8958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7489"/>
                </a:solidFill>
              </a:defRPr>
            </a:pPr>
            <a:r>
              <a:rPr sz="1050">
                <a:solidFill>
                  <a:srgbClr val="5E7489"/>
                </a:solidFill>
              </a:rPr>
              <a:t>Server drops ungrounded suggestions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E28538-E059-4C5A-A337-2333B102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48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A17D37-95EA-4658-9D1F-CC94DC4A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72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C453"/>
                </a:solidFill>
              </a:defRPr>
            </a:pPr>
            <a:r>
              <a:rPr sz="1125" b="1">
                <a:solidFill>
                  <a:srgbClr val="F6C453"/>
                </a:solidFill>
              </a:rPr>
              <a:t>Version loop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652C38-F5A4-46DE-80CE-EE051C6A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8958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7489"/>
                </a:solidFill>
              </a:defRPr>
            </a:pPr>
            <a:r>
              <a:rPr sz="1050">
                <a:solidFill>
                  <a:srgbClr val="5E7489"/>
                </a:solidFill>
              </a:rPr>
              <a:t>Apply → export → re-upload → re-score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CF66CE-BB85-49E4-BE66-97AE869E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71750"/>
            <a:ext cx="11430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6C4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02F2A5-E2A6-41F0-83FD-260A8394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781300"/>
            <a:ext cx="704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0B2942"/>
                </a:solidFill>
              </a:defRPr>
            </a:pPr>
            <a:r>
              <a:rPr sz="4350" b="1">
                <a:solidFill>
                  <a:srgbClr val="0B2942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B1210C-0338-4C99-B19E-45210EB2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B91A3"/>
                </a:solidFill>
              </a:defRPr>
            </a:pPr>
            <a:r>
              <a:rPr sz="900" b="1">
                <a:solidFill>
                  <a:srgbClr val="7B91A3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65401357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EB4E60-E58D-46AB-9F45-703958D5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2263A"/>
                </a:solidFill>
              </a:defRPr>
            </a:pPr>
            <a:r>
              <a:rPr sz="2625" b="1">
                <a:solidFill>
                  <a:srgbClr val="12263A"/>
                </a:solidFill>
              </a:rPr>
              <a:t>How Resume Improvement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565AD-71D4-4B88-A8BA-B22C2F5B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E7489"/>
                </a:solidFill>
              </a:defRPr>
            </a:pPr>
            <a:r>
              <a:rPr sz="1275">
                <a:solidFill>
                  <a:srgbClr val="5E7489"/>
                </a:solidFill>
              </a:rPr>
              <a:t>The user action, the server path, and the technology behind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D5B44A-8269-436B-BEDD-8EE278B5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81300"/>
            <a:ext cx="209550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18D8FB-B830-4496-B90B-F161F4A7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27660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942"/>
                </a:solidFill>
              </a:defRPr>
            </a:pPr>
            <a:r>
              <a:rPr sz="1575" b="1">
                <a:solidFill>
                  <a:srgbClr val="0B2942"/>
                </a:solidFill>
              </a:rPr>
              <a:t>USER</a:t>
            </a:r>
          </a:p>
          <a:p xmlns:a="http://schemas.openxmlformats.org/drawingml/2006/main">
            <a:pPr algn="ctr">
              <a:defRPr sz="1575" b="1">
                <a:solidFill>
                  <a:srgbClr val="0B2942"/>
                </a:solidFill>
              </a:defRPr>
            </a:pPr>
            <a:r>
              <a:rPr sz="1575" b="1">
                <a:solidFill>
                  <a:srgbClr val="0B2942"/>
                </a:solidFill>
              </a:rPr>
              <a:t>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BA1210-8085-440B-9079-9474A831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4800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945F0F-D2CF-4062-9C39-24860114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FAFF"/>
          </a:solidFill>
          <a:ln xmlns:a="http://schemas.openxmlformats.org/drawingml/2006/main" w="19050">
            <a:solidFill>
              <a:srgbClr val="F6C45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948FB-9B50-435C-9A8E-3615F24C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432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C453"/>
                </a:solidFill>
              </a:defRPr>
            </a:pPr>
            <a:r>
              <a:rPr sz="1500" b="1">
                <a:solidFill>
                  <a:srgbClr val="F6C453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2B5626-517D-4649-8B09-E4AC3334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432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263A"/>
                </a:solidFill>
              </a:defRPr>
            </a:pPr>
            <a:r>
              <a:rPr sz="1200" b="1">
                <a:solidFill>
                  <a:srgbClr val="12263A"/>
                </a:solidFill>
              </a:rPr>
              <a:t>Find gap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E33F1B-D0D7-4F64-A123-7F9DD51D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86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7489"/>
                </a:solidFill>
              </a:defRPr>
            </a:pPr>
            <a:r>
              <a:rPr sz="975">
                <a:solidFill>
                  <a:srgbClr val="5E7489"/>
                </a:solidFill>
              </a:rPr>
              <a:t>Read missing terms only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97840E-597B-4D42-9EDA-2596FA0A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12B460-047F-4134-8269-92AEF99D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FAFF"/>
          </a:solidFill>
          <a:ln xmlns:a="http://schemas.openxmlformats.org/drawingml/2006/main" w="19050">
            <a:solidFill>
              <a:srgbClr val="F6C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AF5F5A-E669-42E8-A6CD-E2064F27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432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C453"/>
                </a:solidFill>
              </a:defRPr>
            </a:pPr>
            <a:r>
              <a:rPr sz="1500" b="1">
                <a:solidFill>
                  <a:srgbClr val="F6C453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F914C6-EFE5-41BC-A53F-15961EC5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432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263A"/>
                </a:solidFill>
              </a:defRPr>
            </a:pPr>
            <a:r>
              <a:rPr sz="1200" b="1">
                <a:solidFill>
                  <a:srgbClr val="12263A"/>
                </a:solidFill>
              </a:rPr>
              <a:t>Draft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AE0E47-A491-49E5-B475-FE9059DA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86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7489"/>
                </a:solidFill>
              </a:defRPr>
            </a:pPr>
            <a:r>
              <a:rPr sz="975">
                <a:solidFill>
                  <a:srgbClr val="5E7489"/>
                </a:solidFill>
              </a:rPr>
              <a:t>Generate selected block suggestions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23345B-D00E-467A-B090-93450337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5300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4B07B7-C689-4990-9772-0D07D179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FAFF"/>
          </a:solidFill>
          <a:ln xmlns:a="http://schemas.openxmlformats.org/drawingml/2006/main" w="19050">
            <a:solidFill>
              <a:srgbClr val="F6C45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D2931E-82F5-4F7F-BB10-32C45F32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482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C453"/>
                </a:solidFill>
              </a:defRPr>
            </a:pPr>
            <a:r>
              <a:rPr sz="1500" b="1">
                <a:solidFill>
                  <a:srgbClr val="F6C453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2C41F4-8036-4F88-BA0C-7183987E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482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263A"/>
                </a:solidFill>
              </a:defRPr>
            </a:pPr>
            <a:r>
              <a:rPr sz="1200" b="1">
                <a:solidFill>
                  <a:srgbClr val="12263A"/>
                </a:solidFill>
              </a:rPr>
              <a:t>Validate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2AF05F-FB60-416F-BFBE-2EE759C0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91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7489"/>
                </a:solidFill>
              </a:defRPr>
            </a:pPr>
            <a:r>
              <a:rPr sz="975">
                <a:solidFill>
                  <a:srgbClr val="5E7489"/>
                </a:solidFill>
              </a:rPr>
              <a:t>Check grounding server-side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FD1144-1D51-4280-A170-3B15B33F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5300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56910B-F9D8-4886-80FE-30460777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76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FAFF"/>
          </a:solidFill>
          <a:ln xmlns:a="http://schemas.openxmlformats.org/drawingml/2006/main" w="19050">
            <a:solidFill>
              <a:srgbClr val="F6C45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EAD503-D6F8-4912-8C89-B8DC57F9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482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C453"/>
                </a:solidFill>
              </a:defRPr>
            </a:pPr>
            <a:r>
              <a:rPr sz="1500" b="1">
                <a:solidFill>
                  <a:srgbClr val="F6C453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702C6B-1769-4F04-B7DA-217BB5CB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482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263A"/>
                </a:solidFill>
              </a:defRPr>
            </a:pPr>
            <a:r>
              <a:rPr sz="1200" b="1">
                <a:solidFill>
                  <a:srgbClr val="12263A"/>
                </a:solidFill>
              </a:rPr>
              <a:t>Apply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9854D5-58BE-46BD-A50F-94723F4F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91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7489"/>
                </a:solidFill>
              </a:defRPr>
            </a:pPr>
            <a:r>
              <a:rPr sz="975">
                <a:solidFill>
                  <a:srgbClr val="5E7489"/>
                </a:solidFill>
              </a:rPr>
              <a:t>Create a new resume version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445A32-4EA4-4E24-A891-7619046D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6C453"/>
                </a:solidFill>
              </a:defRPr>
            </a:pPr>
            <a:r>
              <a:rPr sz="900" b="1">
                <a:solidFill>
                  <a:srgbClr val="F6C453"/>
                </a:solidFill>
              </a:rPr>
              <a:t>TECHNOLOGY USED HERE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AEDB92-BC5E-44EA-9BBE-330ED1A3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864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7489"/>
                </a:solidFill>
              </a:defRPr>
            </a:pPr>
            <a:r>
              <a:rPr sz="975">
                <a:solidFill>
                  <a:srgbClr val="5E7489"/>
                </a:solidFill>
              </a:rPr>
              <a:t>Crew: Sequential gap → improve → validate   ·   AI: Groq/NVIDIA provider routing   ·   Export: reportlab + python-docx   ·   Control: Accept, reject, edit, apply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FBC367-1864-45E0-B731-CDF24CFA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B91A3"/>
                </a:solidFill>
              </a:defRPr>
            </a:pPr>
            <a:r>
              <a:rPr sz="900" b="1">
                <a:solidFill>
                  <a:srgbClr val="7B91A3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95463690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F66D21-8104-4430-B8E0-4B610B2A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2263A"/>
                </a:solidFill>
              </a:defRPr>
            </a:pPr>
            <a:r>
              <a:rPr sz="2625" b="1">
                <a:solidFill>
                  <a:srgbClr val="12263A"/>
                </a:solidFill>
              </a:rPr>
              <a:t>How the features fit together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E5E303-FC6E-4039-AAA2-13FC9ADA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E7489"/>
                </a:solidFill>
              </a:defRPr>
            </a:pPr>
            <a:r>
              <a:rPr sz="1275">
                <a:solidFill>
                  <a:srgbClr val="5E7489"/>
                </a:solidFill>
              </a:rPr>
              <a:t>One confirmed source flows through the system, while every service remains bounded by ownership and server-side secrets.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A639B6-C053-439A-A39C-65409037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333750"/>
            <a:ext cx="933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AE966-5B9F-49AB-8723-61F17A33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000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5FAFF"/>
          </a:solidFill>
          <a:ln xmlns:a="http://schemas.openxmlformats.org/drawingml/2006/main" w="19050">
            <a:solidFill>
              <a:srgbClr val="1769A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27865-9E17-4C40-BEAB-B8ED41D1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E7489"/>
                </a:solidFill>
              </a:defRPr>
            </a:pPr>
            <a:r>
              <a:rPr sz="975" b="1">
                <a:solidFill>
                  <a:srgbClr val="5E7489"/>
                </a:solidFill>
              </a:rPr>
              <a:t>BROWSER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A4EA3C-3A14-4166-95A1-E7126090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1581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2263A"/>
                </a:solidFill>
              </a:defRPr>
            </a:pPr>
            <a:r>
              <a:rPr sz="1425" b="1">
                <a:solidFill>
                  <a:srgbClr val="12263A"/>
                </a:solidFill>
              </a:rPr>
              <a:t>Vite + React 19</a:t>
            </a:r>
          </a:p>
          <a:p xmlns:a="http://schemas.openxmlformats.org/drawingml/2006/main">
            <a:pPr>
              <a:defRPr sz="1425" b="1">
                <a:solidFill>
                  <a:srgbClr val="12263A"/>
                </a:solidFill>
              </a:defRPr>
            </a:pPr>
            <a:r>
              <a:rPr sz="1425" b="1">
                <a:solidFill>
                  <a:srgbClr val="12263A"/>
                </a:solidFill>
              </a:rPr>
              <a:t>TypeScript · Tailwind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EB318-2EF2-4AB8-8A80-8C6BB7B5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33750"/>
            <a:ext cx="933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82EBDC-9F0A-4E0D-A213-A7AA4F7A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76500"/>
            <a:ext cx="2000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5FAFF"/>
          </a:solidFill>
          <a:ln xmlns:a="http://schemas.openxmlformats.org/drawingml/2006/main" w="19050">
            <a:solidFill>
              <a:srgbClr val="48C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87C102-D7A8-4D04-930C-D4C7D17E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8130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E7489"/>
                </a:solidFill>
              </a:defRPr>
            </a:pPr>
            <a:r>
              <a:rPr sz="975" b="1">
                <a:solidFill>
                  <a:srgbClr val="5E7489"/>
                </a:solidFill>
              </a:rPr>
              <a:t>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5C425B-F35D-4E95-970B-F8F5A4AF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76600"/>
            <a:ext cx="1581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2263A"/>
                </a:solidFill>
              </a:defRPr>
            </a:pPr>
            <a:r>
              <a:rPr sz="1425" b="1">
                <a:solidFill>
                  <a:srgbClr val="12263A"/>
                </a:solidFill>
              </a:rPr>
              <a:t>FastAPI</a:t>
            </a:r>
          </a:p>
          <a:p xmlns:a="http://schemas.openxmlformats.org/drawingml/2006/main">
            <a:pPr>
              <a:defRPr sz="1425" b="1">
                <a:solidFill>
                  <a:srgbClr val="12263A"/>
                </a:solidFill>
              </a:defRPr>
            </a:pPr>
            <a:r>
              <a:rPr sz="1425" b="1">
                <a:solidFill>
                  <a:srgbClr val="12263A"/>
                </a:solidFill>
              </a:rPr>
              <a:t>JWT + ownership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F8664E-4883-4287-86E6-84153FD4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33750"/>
            <a:ext cx="933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7503E9-8C91-45AF-B99A-19E4A142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76500"/>
            <a:ext cx="2000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71827"/>
          </a:solidFill>
          <a:ln xmlns:a="http://schemas.openxmlformats.org/drawingml/2006/main" w="19050">
            <a:solidFill>
              <a:srgbClr val="FF76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905200-5EF0-496A-9E1D-91E7DB4F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765F"/>
                </a:solidFill>
              </a:defRPr>
            </a:pPr>
            <a:r>
              <a:rPr sz="975" b="1">
                <a:solidFill>
                  <a:srgbClr val="FF765F"/>
                </a:solidFill>
              </a:rPr>
              <a:t>DOMAIN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5588AF-1A34-46C3-BDAC-018F2147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76600"/>
            <a:ext cx="1581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Profile · ATS · Interview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Learning · Jobs · Resume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00BC81-E88E-4CF1-A93A-CAAE9C25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76500"/>
            <a:ext cx="2000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5FAFF"/>
          </a:solidFill>
          <a:ln xmlns:a="http://schemas.openxmlformats.org/drawingml/2006/main" w="19050">
            <a:solidFill>
              <a:srgbClr val="F6C45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5F5C3B-31C1-4854-A594-4F2DD90D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8130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E7489"/>
                </a:solidFill>
              </a:defRPr>
            </a:pPr>
            <a:r>
              <a:rPr sz="975" b="1">
                <a:solidFill>
                  <a:srgbClr val="5E7489"/>
                </a:solidFill>
              </a:rPr>
              <a:t>STORES + PROVIDERS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32D0B8-296D-4107-82B3-33EEE74C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76600"/>
            <a:ext cx="1581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2263A"/>
                </a:solidFill>
              </a:defRPr>
            </a:pPr>
            <a:r>
              <a:rPr sz="1425" b="1">
                <a:solidFill>
                  <a:srgbClr val="12263A"/>
                </a:solidFill>
              </a:rPr>
              <a:t>Firestore · Supabase</a:t>
            </a:r>
          </a:p>
          <a:p xmlns:a="http://schemas.openxmlformats.org/drawingml/2006/main">
            <a:pPr>
              <a:defRPr sz="1425" b="1">
                <a:solidFill>
                  <a:srgbClr val="12263A"/>
                </a:solidFill>
              </a:defRPr>
            </a:pPr>
            <a:r>
              <a:rPr sz="1425" b="1">
                <a:solidFill>
                  <a:srgbClr val="12263A"/>
                </a:solidFill>
              </a:rPr>
              <a:t>Groq · NVIDIA · YouTube · Adzuna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F217AA-AAF3-4D50-830B-9C8647ED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05400"/>
            <a:ext cx="6858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9F1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C0F19B-D825-4EA0-A8A9-76D37A8D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314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942"/>
                </a:solidFill>
              </a:defRPr>
            </a:pPr>
            <a:r>
              <a:rPr sz="1650" b="1">
                <a:solidFill>
                  <a:srgbClr val="0B2942"/>
                </a:solidFill>
              </a:rPr>
              <a:t>The confirm gate is the shared contract behind every feature.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6191BA-EEA6-4E7A-9F93-161FDC8D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B91A3"/>
                </a:solidFill>
              </a:defRPr>
            </a:pPr>
            <a:r>
              <a:rPr sz="900" b="1">
                <a:solidFill>
                  <a:srgbClr val="7B91A3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674959202"/>
      </p:ext>
    </p:extLst>
  </p:cSld>
</p:sld>
</file>

<file path=ppt/slides/slide2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827"/>
            </a:gs>
            <a:gs pos="62000">
              <a:srgbClr val="0B2942"/>
            </a:gs>
            <a:gs pos="100000">
              <a:srgbClr val="1769AA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7fe608c4394d44">
            <a:extLst>
              <a:ext uri="{96DAC541-7B7A-43D3-8B79-37D633B846F1}">
                <asvg:svgBlip xmlns:asvg="http://schemas.microsoft.com/office/drawing/2016/SVG/main" r:embed="Rda4ff25b539c438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64770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453CD3-9474-40E2-B57C-0CDE7CFD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8C4E8"/>
                </a:solidFill>
              </a:defRPr>
            </a:pPr>
            <a:r>
              <a:rPr sz="900" b="1">
                <a:solidFill>
                  <a:srgbClr val="48C4E8"/>
                </a:solidFill>
              </a:rPr>
              <a:t>THE PROJECT TAKEAWAY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0D413A-E373-4216-B873-BEEFCC03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A career copilot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that earns trust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one confirmed step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at a time.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35EE1-892F-41D4-9882-A543EFAF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638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D2E5F1"/>
                </a:solidFill>
              </a:defRPr>
            </a:pPr>
            <a:r>
              <a:rPr sz="1425">
                <a:solidFill>
                  <a:srgbClr val="D2E5F1"/>
                </a:solidFill>
              </a:rPr>
              <a:t>The platform combines candidate agency, deterministic evidence, practical AI assistance, and graceful fallbacks into one connected workflow.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8FCAC9-5827-4DA3-AECF-4C61F64A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65F"/>
                </a:solidFill>
              </a:defRPr>
            </a:pPr>
            <a:r>
              <a:rPr sz="1200" b="1">
                <a:solidFill>
                  <a:srgbClr val="FF765F"/>
                </a:solidFill>
              </a:rPr>
              <a:t>Feature-by-feature, the system stays explainable.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39C61F-2568-4C37-A1BE-A4F86FB7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FAFC4"/>
                </a:solidFill>
              </a:defRPr>
            </a:pPr>
            <a:r>
              <a:rPr sz="900" b="1">
                <a:solidFill>
                  <a:srgbClr val="8FAFC4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509578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2026-08-09T06:38:44.6200000Z</dcterms:created>
  <dcterms:modified xsi:type="dcterms:W3CDTF">2026-08-09T06:38:44.6200000Z</dcterms:modified>
</coreProperties>
</file>